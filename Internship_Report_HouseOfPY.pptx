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9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6.xml.rels" ContentType="application/vnd.openxmlformats-package.relationships+xml"/>
  <Override PartName="/ppt/notesSlides/_rels/notesSlide8.xml.rels" ContentType="application/vnd.openxmlformats-package.relationships+xml"/>
  <Override PartName="/ppt/notesSlides/_rels/notesSlide2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media/image3.jpeg" ContentType="image/jpeg"/>
  <Override PartName="/ppt/media/image2.jpeg" ContentType="image/jpe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IN" sz="4400" spc="-1" strike="noStrike">
                <a:latin typeface="Arial"/>
              </a:rPr>
              <a:t>Click to move the slide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2000" spc="-1" strike="noStrike">
                <a:latin typeface="Arial"/>
              </a:rPr>
              <a:t>Click </a:t>
            </a:r>
            <a:r>
              <a:rPr b="0" lang="en-IN" sz="2000" spc="-1" strike="noStrike">
                <a:latin typeface="Arial"/>
              </a:rPr>
              <a:t>to </a:t>
            </a:r>
            <a:r>
              <a:rPr b="0" lang="en-IN" sz="2000" spc="-1" strike="noStrike">
                <a:latin typeface="Arial"/>
              </a:rPr>
              <a:t>edit </a:t>
            </a:r>
            <a:r>
              <a:rPr b="0" lang="en-IN" sz="2000" spc="-1" strike="noStrike">
                <a:latin typeface="Arial"/>
              </a:rPr>
              <a:t>the </a:t>
            </a:r>
            <a:r>
              <a:rPr b="0" lang="en-IN" sz="2000" spc="-1" strike="noStrike">
                <a:latin typeface="Arial"/>
              </a:rPr>
              <a:t>note</a:t>
            </a:r>
            <a:r>
              <a:rPr b="0" lang="en-IN" sz="2000" spc="-1" strike="noStrike">
                <a:latin typeface="Arial"/>
              </a:rPr>
              <a:t>s </a:t>
            </a:r>
            <a:r>
              <a:rPr b="0" lang="en-IN" sz="2000" spc="-1" strike="noStrike">
                <a:latin typeface="Arial"/>
              </a:rPr>
              <a:t>form</a:t>
            </a:r>
            <a:r>
              <a:rPr b="0" lang="en-IN" sz="2000" spc="-1" strike="noStrike">
                <a:latin typeface="Arial"/>
              </a:rPr>
              <a:t>at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1400" spc="-1" strike="noStrike">
                <a:latin typeface="Times New Roman"/>
              </a:rPr>
              <a:t>&lt;header&gt;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IN" sz="1400" spc="-1" strike="noStrike">
                <a:latin typeface="Times New Roman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IN" sz="1400" spc="-1" strike="noStrike">
                <a:latin typeface="Times New Roman"/>
              </a:defRPr>
            </a:lvl1pPr>
          </a:lstStyle>
          <a:p>
            <a:r>
              <a:rPr b="0" lang="en-IN" sz="1400" spc="-1" strike="noStrike">
                <a:latin typeface="Times New Roman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E0887B7A-231F-497E-A16C-E41B10EB4160}" type="slidenum">
              <a:rPr b="0" lang="en-IN" sz="1400" spc="-1" strike="noStrike">
                <a:latin typeface="Times New Roman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3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13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5AF1A5B-AC10-4166-A11D-0DE960AAEA1F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3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16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AAF66A8-D50E-464D-8472-FEFA0F4B0C02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3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19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A807752-8523-429D-BE59-65B25C00B113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3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22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ABA0D3B-1A3C-4A30-9258-B1888151B596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3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25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7551C98-8DC3-4E20-B0FD-6353731C9758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3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28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30A93D6-F597-4FB1-B71C-537697947F1F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3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31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16707DF-2FF8-44C8-BD8F-ABF4E6019997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3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34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024B9E3-467A-48FD-A9C6-D1B5904193FB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3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37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1E9BB43-9D11-46AE-B2EC-330540149EAC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3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40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D43BE40-883B-425E-8908-3B9763CAFC4F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3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43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FEE2DB0-C64D-4136-BD74-C985B75D4A28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3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46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815A7EB-6B5A-4C94-8A07-41737874F49C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3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49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9AA4FAE-D41D-4758-BB8A-8277171F6C36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IN" sz="4400" spc="-1" strike="noStrike">
                <a:latin typeface="Arial"/>
              </a:rPr>
              <a:t>Click to edit the title text format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latin typeface="Arial"/>
              </a:rPr>
              <a:t>Click to edit the outline text format</a:t>
            </a:r>
            <a:endParaRPr b="0" lang="en-IN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latin typeface="Arial"/>
              </a:rPr>
              <a:t>Second Outline Level</a:t>
            </a:r>
            <a:endParaRPr b="0" lang="en-IN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latin typeface="Arial"/>
              </a:rPr>
              <a:t>Third Outline Level</a:t>
            </a:r>
            <a:endParaRPr b="0" lang="en-IN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latin typeface="Arial"/>
              </a:rPr>
              <a:t>Fourth Outline Level</a:t>
            </a:r>
            <a:endParaRPr b="0" lang="en-IN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Fifth Outline Level</a:t>
            </a:r>
            <a:endParaRPr b="0" lang="en-IN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Sixth Outline Level</a:t>
            </a:r>
            <a:endParaRPr b="0" lang="en-IN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Seventh Outline Level</a:t>
            </a:r>
            <a:endParaRPr b="0" lang="en-IN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3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2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0"/>
          <p:cNvSpPr/>
          <p:nvPr/>
        </p:nvSpPr>
        <p:spPr>
          <a:xfrm>
            <a:off x="0" y="3474720"/>
            <a:ext cx="9142200" cy="1667160"/>
          </a:xfrm>
          <a:prstGeom prst="rect">
            <a:avLst/>
          </a:prstGeom>
          <a:solidFill>
            <a:srgbClr val="0d8a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5" name="Shape 1"/>
          <p:cNvSpPr/>
          <p:nvPr/>
        </p:nvSpPr>
        <p:spPr>
          <a:xfrm>
            <a:off x="0" y="0"/>
            <a:ext cx="108000" cy="5141880"/>
          </a:xfrm>
          <a:prstGeom prst="rect">
            <a:avLst/>
          </a:prstGeom>
          <a:solidFill>
            <a:srgbClr val="f5a62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6" name="Text 2"/>
          <p:cNvSpPr/>
          <p:nvPr/>
        </p:nvSpPr>
        <p:spPr>
          <a:xfrm>
            <a:off x="365760" y="2113200"/>
            <a:ext cx="84106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386" strike="noStrike">
                <a:solidFill>
                  <a:srgbClr val="ffffff"/>
                </a:solidFill>
                <a:latin typeface="Calibri"/>
                <a:ea typeface="Calibri"/>
              </a:rPr>
              <a:t>INTERNSHIP REPORT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47" name="Text 3"/>
          <p:cNvSpPr/>
          <p:nvPr/>
        </p:nvSpPr>
        <p:spPr>
          <a:xfrm>
            <a:off x="360000" y="2963160"/>
            <a:ext cx="84106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200" spc="-1" strike="noStrike">
                <a:solidFill>
                  <a:srgbClr val="0fb4b4"/>
                </a:solidFill>
                <a:latin typeface="Calibri"/>
                <a:ea typeface="Calibri"/>
              </a:rPr>
              <a:t>House of PY Technologies, Surat</a:t>
            </a:r>
            <a:endParaRPr b="0" lang="en-IN" sz="2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22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200" spc="-1" strike="noStrike">
              <a:latin typeface="Arial"/>
            </a:endParaRPr>
          </a:p>
        </p:txBody>
      </p:sp>
      <p:sp>
        <p:nvSpPr>
          <p:cNvPr id="48" name="Text 4"/>
          <p:cNvSpPr/>
          <p:nvPr/>
        </p:nvSpPr>
        <p:spPr>
          <a:xfrm>
            <a:off x="365760" y="3611880"/>
            <a:ext cx="10040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d0e8f0"/>
                </a:solidFill>
                <a:latin typeface="Calibri"/>
                <a:ea typeface="Calibri"/>
              </a:rPr>
              <a:t>Student:  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49" name="Text 5"/>
          <p:cNvSpPr/>
          <p:nvPr/>
        </p:nvSpPr>
        <p:spPr>
          <a:xfrm>
            <a:off x="1280160" y="3611880"/>
            <a:ext cx="24984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Panchal Krish Dipakkumar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50" name="Text 6"/>
          <p:cNvSpPr/>
          <p:nvPr/>
        </p:nvSpPr>
        <p:spPr>
          <a:xfrm rot="21514800">
            <a:off x="3570480" y="3571200"/>
            <a:ext cx="158292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d0e8f0"/>
                </a:solidFill>
                <a:latin typeface="Calibri"/>
                <a:ea typeface="Calibri"/>
              </a:rPr>
              <a:t>Exam No.: 9553  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51" name="Text 8"/>
          <p:cNvSpPr/>
          <p:nvPr/>
        </p:nvSpPr>
        <p:spPr>
          <a:xfrm>
            <a:off x="6035040" y="4270320"/>
            <a:ext cx="2243520" cy="40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d0e8f0"/>
                </a:solidFill>
                <a:latin typeface="Calibri"/>
                <a:ea typeface="Calibri"/>
              </a:rPr>
              <a:t>Program: </a:t>
            </a: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BCA – Semester 6</a:t>
            </a:r>
            <a:r>
              <a:rPr b="1" lang="en-US" sz="1100" spc="-1" strike="noStrike">
                <a:solidFill>
                  <a:srgbClr val="d0e8f0"/>
                </a:solidFill>
                <a:latin typeface="Calibri"/>
                <a:ea typeface="Calibri"/>
              </a:rPr>
              <a:t> 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52" name="Text 11"/>
          <p:cNvSpPr/>
          <p:nvPr/>
        </p:nvSpPr>
        <p:spPr>
          <a:xfrm>
            <a:off x="1080000" y="4270320"/>
            <a:ext cx="4318560" cy="58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3" name="Text 14"/>
          <p:cNvSpPr/>
          <p:nvPr/>
        </p:nvSpPr>
        <p:spPr>
          <a:xfrm>
            <a:off x="5148000" y="3611880"/>
            <a:ext cx="30585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d0e8f0"/>
                </a:solidFill>
                <a:latin typeface="Calibri"/>
                <a:ea typeface="Calibri"/>
              </a:rPr>
              <a:t>Supervisor: </a:t>
            </a: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Kavin Patel, Co-Founder</a:t>
            </a:r>
            <a:r>
              <a:rPr b="1" lang="en-US" sz="1100" spc="-1" strike="noStrike">
                <a:solidFill>
                  <a:srgbClr val="d0e8f0"/>
                </a:solidFill>
                <a:latin typeface="Calibri"/>
                <a:ea typeface="Calibri"/>
              </a:rPr>
              <a:t> 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54" name="Text 16"/>
          <p:cNvSpPr/>
          <p:nvPr/>
        </p:nvSpPr>
        <p:spPr>
          <a:xfrm>
            <a:off x="419040" y="4378320"/>
            <a:ext cx="5339880" cy="40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d0e8f0"/>
                </a:solidFill>
                <a:latin typeface="Calibri"/>
                <a:ea typeface="Calibri"/>
              </a:rPr>
              <a:t>College: </a:t>
            </a: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BCA –</a:t>
            </a:r>
            <a:r>
              <a:rPr b="1" lang="en-US" sz="1100" spc="-1" strike="noStrike">
                <a:solidFill>
                  <a:srgbClr val="d0e8f0"/>
                </a:solidFill>
                <a:latin typeface="Calibri"/>
                <a:ea typeface="Calibri"/>
              </a:rPr>
              <a:t> </a:t>
            </a:r>
            <a:r>
              <a:rPr b="1" lang="en-US" sz="1200" spc="-1" strike="noStrike" u="sng">
                <a:solidFill>
                  <a:srgbClr val="ffffff"/>
                </a:solidFill>
                <a:uFillTx/>
                <a:latin typeface="Calibri"/>
                <a:ea typeface="Calibri"/>
              </a:rPr>
              <a:t>Vivekanand college for Advanced Computer </a:t>
            </a:r>
            <a:endParaRPr b="0" lang="en-IN" sz="12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 u="sng">
                <a:solidFill>
                  <a:srgbClr val="ffffff"/>
                </a:solidFill>
                <a:uFillTx/>
                <a:latin typeface="Calibri"/>
                <a:ea typeface="Calibri"/>
              </a:rPr>
              <a:t>and Information Science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55" name="Text 76"/>
          <p:cNvSpPr/>
          <p:nvPr/>
        </p:nvSpPr>
        <p:spPr>
          <a:xfrm>
            <a:off x="365760" y="385200"/>
            <a:ext cx="84106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56" name="Picture 7" descr=""/>
          <p:cNvPicPr/>
          <p:nvPr/>
        </p:nvPicPr>
        <p:blipFill>
          <a:blip r:embed="rId1"/>
          <a:stretch/>
        </p:blipFill>
        <p:spPr>
          <a:xfrm>
            <a:off x="108000" y="225360"/>
            <a:ext cx="8753400" cy="1934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0"/>
          <p:cNvSpPr/>
          <p:nvPr/>
        </p:nvSpPr>
        <p:spPr>
          <a:xfrm>
            <a:off x="0" y="0"/>
            <a:ext cx="9142200" cy="912600"/>
          </a:xfrm>
          <a:prstGeom prst="rect">
            <a:avLst/>
          </a:prstGeom>
          <a:solidFill>
            <a:srgbClr val="1a2b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8" name="Text 1"/>
          <p:cNvSpPr/>
          <p:nvPr/>
        </p:nvSpPr>
        <p:spPr>
          <a:xfrm>
            <a:off x="365760" y="0"/>
            <a:ext cx="841068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  <a:ea typeface="Calibri"/>
              </a:rPr>
              <a:t>Certificates</a:t>
            </a:r>
            <a:endParaRPr b="0" lang="en-IN" sz="2800" spc="-1" strike="noStrike">
              <a:latin typeface="Arial"/>
            </a:endParaRPr>
          </a:p>
        </p:txBody>
      </p:sp>
      <p:sp>
        <p:nvSpPr>
          <p:cNvPr id="59" name="Shape 2"/>
          <p:cNvSpPr/>
          <p:nvPr/>
        </p:nvSpPr>
        <p:spPr>
          <a:xfrm>
            <a:off x="0" y="0"/>
            <a:ext cx="62280" cy="912600"/>
          </a:xfrm>
          <a:prstGeom prst="rect">
            <a:avLst/>
          </a:prstGeom>
          <a:solidFill>
            <a:srgbClr val="0d8a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60" name="" descr=""/>
          <p:cNvPicPr/>
          <p:nvPr/>
        </p:nvPicPr>
        <p:blipFill>
          <a:blip r:embed="rId1"/>
          <a:stretch/>
        </p:blipFill>
        <p:spPr>
          <a:xfrm>
            <a:off x="5184000" y="904680"/>
            <a:ext cx="3058560" cy="4237560"/>
          </a:xfrm>
          <a:prstGeom prst="rect">
            <a:avLst/>
          </a:prstGeom>
          <a:ln w="0">
            <a:noFill/>
          </a:ln>
        </p:spPr>
      </p:pic>
      <p:pic>
        <p:nvPicPr>
          <p:cNvPr id="61" name="" descr=""/>
          <p:cNvPicPr/>
          <p:nvPr/>
        </p:nvPicPr>
        <p:blipFill>
          <a:blip r:embed="rId2"/>
          <a:stretch/>
        </p:blipFill>
        <p:spPr>
          <a:xfrm>
            <a:off x="744120" y="914040"/>
            <a:ext cx="3214440" cy="4228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14"/>
          <p:cNvSpPr/>
          <p:nvPr/>
        </p:nvSpPr>
        <p:spPr>
          <a:xfrm>
            <a:off x="0" y="0"/>
            <a:ext cx="9142200" cy="912600"/>
          </a:xfrm>
          <a:prstGeom prst="rect">
            <a:avLst/>
          </a:prstGeom>
          <a:solidFill>
            <a:srgbClr val="1a2b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3" name="Text 33"/>
          <p:cNvSpPr/>
          <p:nvPr/>
        </p:nvSpPr>
        <p:spPr>
          <a:xfrm>
            <a:off x="365760" y="0"/>
            <a:ext cx="841068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  <a:ea typeface="Calibri"/>
              </a:rPr>
              <a:t>About House of PY Technologies</a:t>
            </a:r>
            <a:endParaRPr b="0" lang="en-IN" sz="2800" spc="-1" strike="noStrike">
              <a:latin typeface="Arial"/>
            </a:endParaRPr>
          </a:p>
        </p:txBody>
      </p:sp>
      <p:sp>
        <p:nvSpPr>
          <p:cNvPr id="64" name="Shape 36"/>
          <p:cNvSpPr/>
          <p:nvPr/>
        </p:nvSpPr>
        <p:spPr>
          <a:xfrm>
            <a:off x="0" y="0"/>
            <a:ext cx="62280" cy="912600"/>
          </a:xfrm>
          <a:prstGeom prst="rect">
            <a:avLst/>
          </a:prstGeom>
          <a:solidFill>
            <a:srgbClr val="0d8a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5" name="Text 40"/>
          <p:cNvSpPr/>
          <p:nvPr/>
        </p:nvSpPr>
        <p:spPr>
          <a:xfrm>
            <a:off x="365760" y="1051560"/>
            <a:ext cx="42044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1a2b5e"/>
                </a:solidFill>
                <a:latin typeface="Calibri"/>
                <a:ea typeface="Calibri"/>
              </a:rPr>
              <a:t>Company Overview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66" name="Shape 37"/>
          <p:cNvSpPr/>
          <p:nvPr/>
        </p:nvSpPr>
        <p:spPr>
          <a:xfrm>
            <a:off x="365760" y="1481400"/>
            <a:ext cx="958320" cy="409680"/>
          </a:xfrm>
          <a:prstGeom prst="rect">
            <a:avLst/>
          </a:prstGeom>
          <a:solidFill>
            <a:srgbClr val="0d8a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7" name="Text 41"/>
          <p:cNvSpPr/>
          <p:nvPr/>
        </p:nvSpPr>
        <p:spPr>
          <a:xfrm>
            <a:off x="365760" y="1481400"/>
            <a:ext cx="95832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Address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68" name="Text 42"/>
          <p:cNvSpPr/>
          <p:nvPr/>
        </p:nvSpPr>
        <p:spPr>
          <a:xfrm>
            <a:off x="1417320" y="1481400"/>
            <a:ext cx="310716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36454f"/>
                </a:solidFill>
                <a:latin typeface="Calibri"/>
                <a:ea typeface="Calibri"/>
              </a:rPr>
              <a:t>223,220,EVOQ Building, Palanpur Canal Rd, Sant Crystal Avenue,Palanpur, Surat, GJ – 395003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69" name="Shape 38"/>
          <p:cNvSpPr/>
          <p:nvPr/>
        </p:nvSpPr>
        <p:spPr>
          <a:xfrm>
            <a:off x="365760" y="2103120"/>
            <a:ext cx="958320" cy="409680"/>
          </a:xfrm>
          <a:prstGeom prst="rect">
            <a:avLst/>
          </a:prstGeom>
          <a:solidFill>
            <a:srgbClr val="0d8a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0" name="Text 48"/>
          <p:cNvSpPr/>
          <p:nvPr/>
        </p:nvSpPr>
        <p:spPr>
          <a:xfrm>
            <a:off x="365760" y="2103120"/>
            <a:ext cx="95832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Website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71" name="Text 49"/>
          <p:cNvSpPr/>
          <p:nvPr/>
        </p:nvSpPr>
        <p:spPr>
          <a:xfrm>
            <a:off x="1417320" y="2103120"/>
            <a:ext cx="310716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36454f"/>
                </a:solidFill>
                <a:latin typeface="Calibri"/>
                <a:ea typeface="Calibri"/>
              </a:rPr>
              <a:t>www.houseofpy.com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72" name="Shape 39"/>
          <p:cNvSpPr/>
          <p:nvPr/>
        </p:nvSpPr>
        <p:spPr>
          <a:xfrm>
            <a:off x="365760" y="2724840"/>
            <a:ext cx="958320" cy="409680"/>
          </a:xfrm>
          <a:prstGeom prst="rect">
            <a:avLst/>
          </a:prstGeom>
          <a:solidFill>
            <a:srgbClr val="0d8a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3" name="Text 50"/>
          <p:cNvSpPr/>
          <p:nvPr/>
        </p:nvSpPr>
        <p:spPr>
          <a:xfrm>
            <a:off x="365760" y="2724840"/>
            <a:ext cx="95832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Email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74" name="Text 51"/>
          <p:cNvSpPr/>
          <p:nvPr/>
        </p:nvSpPr>
        <p:spPr>
          <a:xfrm>
            <a:off x="1417320" y="2724840"/>
            <a:ext cx="310716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36454f"/>
                </a:solidFill>
                <a:latin typeface="Calibri"/>
                <a:ea typeface="Calibri"/>
              </a:rPr>
              <a:t>houseofpy.it@gmail.com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75" name="Shape 43"/>
          <p:cNvSpPr/>
          <p:nvPr/>
        </p:nvSpPr>
        <p:spPr>
          <a:xfrm>
            <a:off x="365760" y="3346560"/>
            <a:ext cx="958320" cy="409680"/>
          </a:xfrm>
          <a:prstGeom prst="rect">
            <a:avLst/>
          </a:prstGeom>
          <a:solidFill>
            <a:srgbClr val="0d8a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6" name="Text 52"/>
          <p:cNvSpPr/>
          <p:nvPr/>
        </p:nvSpPr>
        <p:spPr>
          <a:xfrm>
            <a:off x="365760" y="3346560"/>
            <a:ext cx="95832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Phone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77" name="Text 53"/>
          <p:cNvSpPr/>
          <p:nvPr/>
        </p:nvSpPr>
        <p:spPr>
          <a:xfrm>
            <a:off x="1417320" y="3346560"/>
            <a:ext cx="310716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36454f"/>
                </a:solidFill>
                <a:latin typeface="Calibri"/>
                <a:ea typeface="Calibri"/>
              </a:rPr>
              <a:t>+91 87589 72670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78" name="Shape 44"/>
          <p:cNvSpPr/>
          <p:nvPr/>
        </p:nvSpPr>
        <p:spPr>
          <a:xfrm>
            <a:off x="4937760" y="1005840"/>
            <a:ext cx="3838680" cy="3747240"/>
          </a:xfrm>
          <a:prstGeom prst="rect">
            <a:avLst/>
          </a:prstGeom>
          <a:solidFill>
            <a:srgbClr val="1a2b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9" name="Text 54"/>
          <p:cNvSpPr/>
          <p:nvPr/>
        </p:nvSpPr>
        <p:spPr>
          <a:xfrm>
            <a:off x="5074920" y="1097280"/>
            <a:ext cx="35643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0fb4b4"/>
                </a:solidFill>
                <a:latin typeface="Calibri"/>
                <a:ea typeface="Calibri"/>
              </a:rPr>
              <a:t>Core Services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80" name="Text 55"/>
          <p:cNvSpPr/>
          <p:nvPr/>
        </p:nvSpPr>
        <p:spPr>
          <a:xfrm>
            <a:off x="5074920" y="1554480"/>
            <a:ext cx="3564360" cy="301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>
              <a:lnSpc>
                <a:spcPct val="100000"/>
              </a:lnSpc>
              <a:spcAft>
                <a:spcPts val="601"/>
              </a:spcAft>
              <a:buClr>
                <a:srgbClr val="ffffff"/>
              </a:buClr>
              <a:buFont typeface="Symbol"/>
              <a:buChar char=""/>
            </a:pPr>
            <a:r>
              <a:rPr b="0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Odoo ERP Implementation &amp; Customization</a:t>
            </a:r>
            <a:endParaRPr b="0" lang="en-IN" sz="13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601"/>
              </a:spcAft>
              <a:buClr>
                <a:srgbClr val="ffffff"/>
              </a:buClr>
              <a:buFont typeface="Symbol"/>
              <a:buChar char=""/>
            </a:pPr>
            <a:r>
              <a:rPr b="0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Python / Backend Application Development</a:t>
            </a:r>
            <a:endParaRPr b="0" lang="en-IN" sz="13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601"/>
              </a:spcAft>
              <a:buClr>
                <a:srgbClr val="ffffff"/>
              </a:buClr>
              <a:buFont typeface="Symbol"/>
              <a:buChar char=""/>
            </a:pPr>
            <a:r>
              <a:rPr b="0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Flutter Mobile App Development</a:t>
            </a:r>
            <a:endParaRPr b="0" lang="en-IN" sz="13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601"/>
              </a:spcAft>
              <a:buClr>
                <a:srgbClr val="ffffff"/>
              </a:buClr>
              <a:buFont typeface="Symbol"/>
              <a:buChar char=""/>
            </a:pPr>
            <a:r>
              <a:rPr b="0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IT Consulting &amp; Digital Transformation</a:t>
            </a:r>
            <a:endParaRPr b="0" lang="en-IN" sz="13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601"/>
              </a:spcAft>
              <a:buClr>
                <a:srgbClr val="ffffff"/>
              </a:buClr>
              <a:buFont typeface="Symbol"/>
              <a:buChar char=""/>
            </a:pPr>
            <a:r>
              <a:rPr b="0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SMB to Enterprise Clients (Manufacturing, Retail, Logistics)</a:t>
            </a:r>
            <a:endParaRPr b="0" lang="en-IN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hape 0"/>
          <p:cNvSpPr/>
          <p:nvPr/>
        </p:nvSpPr>
        <p:spPr>
          <a:xfrm>
            <a:off x="0" y="0"/>
            <a:ext cx="9142200" cy="912600"/>
          </a:xfrm>
          <a:prstGeom prst="rect">
            <a:avLst/>
          </a:prstGeom>
          <a:solidFill>
            <a:srgbClr val="1a2b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2" name="Text 1"/>
          <p:cNvSpPr/>
          <p:nvPr/>
        </p:nvSpPr>
        <p:spPr>
          <a:xfrm>
            <a:off x="365760" y="0"/>
            <a:ext cx="841068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  <a:ea typeface="Calibri"/>
              </a:rPr>
              <a:t>Internship Details</a:t>
            </a:r>
            <a:endParaRPr b="0" lang="en-IN" sz="2800" spc="-1" strike="noStrike">
              <a:latin typeface="Arial"/>
            </a:endParaRPr>
          </a:p>
        </p:txBody>
      </p:sp>
      <p:sp>
        <p:nvSpPr>
          <p:cNvPr id="83" name="Shape 2"/>
          <p:cNvSpPr/>
          <p:nvPr/>
        </p:nvSpPr>
        <p:spPr>
          <a:xfrm>
            <a:off x="0" y="0"/>
            <a:ext cx="62280" cy="912600"/>
          </a:xfrm>
          <a:prstGeom prst="rect">
            <a:avLst/>
          </a:prstGeom>
          <a:solidFill>
            <a:srgbClr val="0d8a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4" name="Shape 3"/>
          <p:cNvSpPr/>
          <p:nvPr/>
        </p:nvSpPr>
        <p:spPr>
          <a:xfrm>
            <a:off x="274320" y="1051560"/>
            <a:ext cx="2741400" cy="12783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85" name="Shape 4"/>
          <p:cNvSpPr/>
          <p:nvPr/>
        </p:nvSpPr>
        <p:spPr>
          <a:xfrm>
            <a:off x="274320" y="1051560"/>
            <a:ext cx="62280" cy="1278360"/>
          </a:xfrm>
          <a:prstGeom prst="rect">
            <a:avLst/>
          </a:prstGeom>
          <a:solidFill>
            <a:srgbClr val="0d8a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6" name="Text 5"/>
          <p:cNvSpPr/>
          <p:nvPr/>
        </p:nvSpPr>
        <p:spPr>
          <a:xfrm>
            <a:off x="411480" y="1143000"/>
            <a:ext cx="255852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d8a8a"/>
                </a:solidFill>
                <a:latin typeface="Calibri"/>
                <a:ea typeface="Calibri"/>
              </a:rPr>
              <a:t>Duration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87" name="Text 6"/>
          <p:cNvSpPr/>
          <p:nvPr/>
        </p:nvSpPr>
        <p:spPr>
          <a:xfrm>
            <a:off x="411480" y="1490400"/>
            <a:ext cx="2512800" cy="74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36454f"/>
                </a:solidFill>
                <a:latin typeface="Calibri"/>
                <a:ea typeface="Calibri"/>
              </a:rPr>
              <a:t>Nov 24, 2025 – Mar 19, 2026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36454f"/>
                </a:solidFill>
                <a:latin typeface="Calibri"/>
                <a:ea typeface="Calibri"/>
              </a:rPr>
              <a:t>(~5 months)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88" name="Shape 7"/>
          <p:cNvSpPr/>
          <p:nvPr/>
        </p:nvSpPr>
        <p:spPr>
          <a:xfrm>
            <a:off x="3291840" y="1051560"/>
            <a:ext cx="2741400" cy="12783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89" name="Shape 8"/>
          <p:cNvSpPr/>
          <p:nvPr/>
        </p:nvSpPr>
        <p:spPr>
          <a:xfrm>
            <a:off x="3291840" y="1051560"/>
            <a:ext cx="62280" cy="1278360"/>
          </a:xfrm>
          <a:prstGeom prst="rect">
            <a:avLst/>
          </a:prstGeom>
          <a:solidFill>
            <a:srgbClr val="0d8a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0" name="Text 9"/>
          <p:cNvSpPr/>
          <p:nvPr/>
        </p:nvSpPr>
        <p:spPr>
          <a:xfrm>
            <a:off x="3429000" y="1143000"/>
            <a:ext cx="255852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d8a8a"/>
                </a:solidFill>
                <a:latin typeface="Calibri"/>
                <a:ea typeface="Calibri"/>
              </a:rPr>
              <a:t>Department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91" name="Text 10"/>
          <p:cNvSpPr/>
          <p:nvPr/>
        </p:nvSpPr>
        <p:spPr>
          <a:xfrm>
            <a:off x="3429000" y="1490400"/>
            <a:ext cx="2512800" cy="74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36454f"/>
                </a:solidFill>
                <a:latin typeface="Calibri"/>
                <a:ea typeface="Calibri"/>
              </a:rPr>
              <a:t>Software Development Division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36454f"/>
                </a:solidFill>
                <a:latin typeface="Calibri"/>
                <a:ea typeface="Calibri"/>
              </a:rPr>
              <a:t>(Odoo · Python · Mobile)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92" name="Shape 11"/>
          <p:cNvSpPr/>
          <p:nvPr/>
        </p:nvSpPr>
        <p:spPr>
          <a:xfrm>
            <a:off x="6309360" y="1051560"/>
            <a:ext cx="2604240" cy="12783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93" name="Shape 12"/>
          <p:cNvSpPr/>
          <p:nvPr/>
        </p:nvSpPr>
        <p:spPr>
          <a:xfrm>
            <a:off x="6309360" y="1051560"/>
            <a:ext cx="62280" cy="1278360"/>
          </a:xfrm>
          <a:prstGeom prst="rect">
            <a:avLst/>
          </a:prstGeom>
          <a:solidFill>
            <a:srgbClr val="0d8a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4" name="Text 13"/>
          <p:cNvSpPr/>
          <p:nvPr/>
        </p:nvSpPr>
        <p:spPr>
          <a:xfrm>
            <a:off x="6446520" y="1143000"/>
            <a:ext cx="242136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d8a8a"/>
                </a:solidFill>
                <a:latin typeface="Calibri"/>
                <a:ea typeface="Calibri"/>
              </a:rPr>
              <a:t>Supervisor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95" name="Text 14"/>
          <p:cNvSpPr/>
          <p:nvPr/>
        </p:nvSpPr>
        <p:spPr>
          <a:xfrm>
            <a:off x="6446520" y="1490400"/>
            <a:ext cx="2375640" cy="74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36454f"/>
                </a:solidFill>
                <a:latin typeface="Calibri"/>
                <a:ea typeface="Calibri"/>
              </a:rPr>
              <a:t>Kavin Patel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36454f"/>
                </a:solidFill>
                <a:latin typeface="Calibri"/>
                <a:ea typeface="Calibri"/>
              </a:rPr>
              <a:t>Co-Founder &amp; Senior Developer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96" name="Shape 15"/>
          <p:cNvSpPr/>
          <p:nvPr/>
        </p:nvSpPr>
        <p:spPr>
          <a:xfrm>
            <a:off x="274320" y="2514600"/>
            <a:ext cx="2741400" cy="12783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97" name="Shape 16"/>
          <p:cNvSpPr/>
          <p:nvPr/>
        </p:nvSpPr>
        <p:spPr>
          <a:xfrm>
            <a:off x="274320" y="2514600"/>
            <a:ext cx="62280" cy="1278360"/>
          </a:xfrm>
          <a:prstGeom prst="rect">
            <a:avLst/>
          </a:prstGeom>
          <a:solidFill>
            <a:srgbClr val="0d8a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8" name="Text 17"/>
          <p:cNvSpPr/>
          <p:nvPr/>
        </p:nvSpPr>
        <p:spPr>
          <a:xfrm>
            <a:off x="411480" y="2606040"/>
            <a:ext cx="255852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d8a8a"/>
                </a:solidFill>
                <a:latin typeface="Calibri"/>
                <a:ea typeface="Calibri"/>
              </a:rPr>
              <a:t>Team Exposure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99" name="Text 18"/>
          <p:cNvSpPr/>
          <p:nvPr/>
        </p:nvSpPr>
        <p:spPr>
          <a:xfrm>
            <a:off x="411480" y="2953440"/>
            <a:ext cx="2512800" cy="74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36454f"/>
                </a:solidFill>
                <a:latin typeface="Calibri"/>
                <a:ea typeface="Calibri"/>
              </a:rPr>
              <a:t>Rotated across Odoo ERP, Python Backend &amp; Flutter Mobile teams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00" name="Shape 19"/>
          <p:cNvSpPr/>
          <p:nvPr/>
        </p:nvSpPr>
        <p:spPr>
          <a:xfrm>
            <a:off x="3291840" y="2514600"/>
            <a:ext cx="2741400" cy="12783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1" name="Shape 20"/>
          <p:cNvSpPr/>
          <p:nvPr/>
        </p:nvSpPr>
        <p:spPr>
          <a:xfrm>
            <a:off x="3291840" y="2514600"/>
            <a:ext cx="62280" cy="1278360"/>
          </a:xfrm>
          <a:prstGeom prst="rect">
            <a:avLst/>
          </a:prstGeom>
          <a:solidFill>
            <a:srgbClr val="0d8a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2" name="Text 21"/>
          <p:cNvSpPr/>
          <p:nvPr/>
        </p:nvSpPr>
        <p:spPr>
          <a:xfrm>
            <a:off x="3429000" y="2606040"/>
            <a:ext cx="255852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d8a8a"/>
                </a:solidFill>
                <a:latin typeface="Calibri"/>
                <a:ea typeface="Calibri"/>
              </a:rPr>
              <a:t>Work Culture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03" name="Text 22"/>
          <p:cNvSpPr/>
          <p:nvPr/>
        </p:nvSpPr>
        <p:spPr>
          <a:xfrm>
            <a:off x="3429000" y="2953440"/>
            <a:ext cx="2512800" cy="74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36454f"/>
                </a:solidFill>
                <a:latin typeface="Calibri"/>
                <a:ea typeface="Calibri"/>
              </a:rPr>
              <a:t>Agile sprint model with daily stand-ups, code reviews &amp; sprint retrospectives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04" name="Shape 23"/>
          <p:cNvSpPr/>
          <p:nvPr/>
        </p:nvSpPr>
        <p:spPr>
          <a:xfrm>
            <a:off x="6309360" y="2514600"/>
            <a:ext cx="2604240" cy="12783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5" name="Shape 24"/>
          <p:cNvSpPr/>
          <p:nvPr/>
        </p:nvSpPr>
        <p:spPr>
          <a:xfrm>
            <a:off x="6309360" y="2514600"/>
            <a:ext cx="62280" cy="1278360"/>
          </a:xfrm>
          <a:prstGeom prst="rect">
            <a:avLst/>
          </a:prstGeom>
          <a:solidFill>
            <a:srgbClr val="0d8a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6" name="Text 25"/>
          <p:cNvSpPr/>
          <p:nvPr/>
        </p:nvSpPr>
        <p:spPr>
          <a:xfrm>
            <a:off x="6446520" y="2606040"/>
            <a:ext cx="242136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d8a8a"/>
                </a:solidFill>
                <a:latin typeface="Calibri"/>
                <a:ea typeface="Calibri"/>
              </a:rPr>
              <a:t>Time Split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07" name="Text 26"/>
          <p:cNvSpPr/>
          <p:nvPr/>
        </p:nvSpPr>
        <p:spPr>
          <a:xfrm>
            <a:off x="6446520" y="2953440"/>
            <a:ext cx="2375640" cy="74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36454f"/>
                </a:solidFill>
                <a:latin typeface="Calibri"/>
                <a:ea typeface="Calibri"/>
              </a:rPr>
              <a:t>Odoo 40% · Python 35% · Mobile 25%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08" name="Shape 27"/>
          <p:cNvSpPr/>
          <p:nvPr/>
        </p:nvSpPr>
        <p:spPr>
          <a:xfrm>
            <a:off x="274320" y="4114800"/>
            <a:ext cx="8593560" cy="318240"/>
          </a:xfrm>
          <a:prstGeom prst="rect">
            <a:avLst/>
          </a:prstGeom>
          <a:solidFill>
            <a:srgbClr val="e8ee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9" name="Shape 28"/>
          <p:cNvSpPr/>
          <p:nvPr/>
        </p:nvSpPr>
        <p:spPr>
          <a:xfrm>
            <a:off x="274320" y="4114800"/>
            <a:ext cx="3436200" cy="318240"/>
          </a:xfrm>
          <a:prstGeom prst="rect">
            <a:avLst/>
          </a:prstGeom>
          <a:solidFill>
            <a:srgbClr val="1a2b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0" name="Shape 29"/>
          <p:cNvSpPr/>
          <p:nvPr/>
        </p:nvSpPr>
        <p:spPr>
          <a:xfrm>
            <a:off x="3712320" y="4114800"/>
            <a:ext cx="3006720" cy="318240"/>
          </a:xfrm>
          <a:prstGeom prst="rect">
            <a:avLst/>
          </a:prstGeom>
          <a:solidFill>
            <a:srgbClr val="0d8a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1" name="Shape 30"/>
          <p:cNvSpPr/>
          <p:nvPr/>
        </p:nvSpPr>
        <p:spPr>
          <a:xfrm>
            <a:off x="6720840" y="4114800"/>
            <a:ext cx="2147040" cy="318240"/>
          </a:xfrm>
          <a:prstGeom prst="rect">
            <a:avLst/>
          </a:prstGeom>
          <a:solidFill>
            <a:srgbClr val="f5a62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2" name="Shape 31"/>
          <p:cNvSpPr/>
          <p:nvPr/>
        </p:nvSpPr>
        <p:spPr>
          <a:xfrm>
            <a:off x="274320" y="4572000"/>
            <a:ext cx="162720" cy="162720"/>
          </a:xfrm>
          <a:prstGeom prst="rect">
            <a:avLst/>
          </a:prstGeom>
          <a:solidFill>
            <a:srgbClr val="1a2b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3" name="Text 32"/>
          <p:cNvSpPr/>
          <p:nvPr/>
        </p:nvSpPr>
        <p:spPr>
          <a:xfrm>
            <a:off x="493920" y="4544640"/>
            <a:ext cx="2284200" cy="21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36454f"/>
                </a:solidFill>
                <a:latin typeface="Calibri"/>
                <a:ea typeface="Calibri"/>
              </a:rPr>
              <a:t>Odoo ERP – 40%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14" name="Shape 33"/>
          <p:cNvSpPr/>
          <p:nvPr/>
        </p:nvSpPr>
        <p:spPr>
          <a:xfrm>
            <a:off x="3712320" y="4572000"/>
            <a:ext cx="162720" cy="162720"/>
          </a:xfrm>
          <a:prstGeom prst="rect">
            <a:avLst/>
          </a:prstGeom>
          <a:solidFill>
            <a:srgbClr val="0d8a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5" name="Text 34"/>
          <p:cNvSpPr/>
          <p:nvPr/>
        </p:nvSpPr>
        <p:spPr>
          <a:xfrm>
            <a:off x="3931920" y="4544640"/>
            <a:ext cx="2284200" cy="21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36454f"/>
                </a:solidFill>
                <a:latin typeface="Calibri"/>
                <a:ea typeface="Calibri"/>
              </a:rPr>
              <a:t>Python/Backend – 35%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16" name="Shape 35"/>
          <p:cNvSpPr/>
          <p:nvPr/>
        </p:nvSpPr>
        <p:spPr>
          <a:xfrm>
            <a:off x="6720840" y="4572000"/>
            <a:ext cx="162720" cy="162720"/>
          </a:xfrm>
          <a:prstGeom prst="rect">
            <a:avLst/>
          </a:prstGeom>
          <a:solidFill>
            <a:srgbClr val="f5a62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7" name="Text 36"/>
          <p:cNvSpPr/>
          <p:nvPr/>
        </p:nvSpPr>
        <p:spPr>
          <a:xfrm>
            <a:off x="6940440" y="4544640"/>
            <a:ext cx="2284200" cy="21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36454f"/>
                </a:solidFill>
                <a:latin typeface="Calibri"/>
                <a:ea typeface="Calibri"/>
              </a:rPr>
              <a:t>Mobile Dev – 25%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Shape 0"/>
          <p:cNvSpPr/>
          <p:nvPr/>
        </p:nvSpPr>
        <p:spPr>
          <a:xfrm>
            <a:off x="0" y="0"/>
            <a:ext cx="9142200" cy="912600"/>
          </a:xfrm>
          <a:prstGeom prst="rect">
            <a:avLst/>
          </a:prstGeom>
          <a:solidFill>
            <a:srgbClr val="1a2b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9" name="Text 1"/>
          <p:cNvSpPr/>
          <p:nvPr/>
        </p:nvSpPr>
        <p:spPr>
          <a:xfrm>
            <a:off x="365760" y="0"/>
            <a:ext cx="841068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  <a:ea typeface="Calibri"/>
              </a:rPr>
              <a:t>Objectives of the Internship</a:t>
            </a:r>
            <a:endParaRPr b="0" lang="en-IN" sz="2800" spc="-1" strike="noStrike">
              <a:latin typeface="Arial"/>
            </a:endParaRPr>
          </a:p>
        </p:txBody>
      </p:sp>
      <p:sp>
        <p:nvSpPr>
          <p:cNvPr id="120" name="Shape 2"/>
          <p:cNvSpPr/>
          <p:nvPr/>
        </p:nvSpPr>
        <p:spPr>
          <a:xfrm>
            <a:off x="0" y="0"/>
            <a:ext cx="62280" cy="912600"/>
          </a:xfrm>
          <a:prstGeom prst="rect">
            <a:avLst/>
          </a:prstGeom>
          <a:solidFill>
            <a:srgbClr val="0d8a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1" name="Shape 3"/>
          <p:cNvSpPr/>
          <p:nvPr/>
        </p:nvSpPr>
        <p:spPr>
          <a:xfrm>
            <a:off x="274320" y="1005840"/>
            <a:ext cx="2009880" cy="37929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22" name="Shape 4"/>
          <p:cNvSpPr/>
          <p:nvPr/>
        </p:nvSpPr>
        <p:spPr>
          <a:xfrm>
            <a:off x="274320" y="1005840"/>
            <a:ext cx="2009880" cy="455400"/>
          </a:xfrm>
          <a:prstGeom prst="rect">
            <a:avLst/>
          </a:prstGeom>
          <a:solidFill>
            <a:srgbClr val="1a2b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3" name="Text 5"/>
          <p:cNvSpPr/>
          <p:nvPr/>
        </p:nvSpPr>
        <p:spPr>
          <a:xfrm>
            <a:off x="347400" y="1005840"/>
            <a:ext cx="18637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Odoo / ERP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24" name="Text 6"/>
          <p:cNvSpPr/>
          <p:nvPr/>
        </p:nvSpPr>
        <p:spPr>
          <a:xfrm>
            <a:off x="365760" y="1554480"/>
            <a:ext cx="1827000" cy="31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>
              <a:lnSpc>
                <a:spcPct val="100000"/>
              </a:lnSpc>
              <a:spcAft>
                <a:spcPts val="799"/>
              </a:spcAft>
              <a:buClr>
                <a:srgbClr val="36454f"/>
              </a:buClr>
              <a:buFont typeface="Symbol"/>
              <a:buChar char=""/>
            </a:pPr>
            <a:r>
              <a:rPr b="0" lang="en-US" sz="1150" spc="-1" strike="noStrike">
                <a:solidFill>
                  <a:srgbClr val="36454f"/>
                </a:solidFill>
                <a:latin typeface="Calibri"/>
                <a:ea typeface="Calibri"/>
              </a:rPr>
              <a:t>Understand Odoo MVC &amp; ORM system</a:t>
            </a:r>
            <a:endParaRPr b="0" lang="en-IN" sz="115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799"/>
              </a:spcAft>
              <a:buClr>
                <a:srgbClr val="36454f"/>
              </a:buClr>
              <a:buFont typeface="Symbol"/>
              <a:buChar char=""/>
            </a:pPr>
            <a:r>
              <a:rPr b="0" lang="en-US" sz="1150" spc="-1" strike="noStrike">
                <a:solidFill>
                  <a:srgbClr val="36454f"/>
                </a:solidFill>
                <a:latin typeface="Calibri"/>
                <a:ea typeface="Calibri"/>
              </a:rPr>
              <a:t>Create custom modules &amp; XML views</a:t>
            </a:r>
            <a:endParaRPr b="0" lang="en-IN" sz="115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799"/>
              </a:spcAft>
              <a:buClr>
                <a:srgbClr val="36454f"/>
              </a:buClr>
              <a:buFont typeface="Symbol"/>
              <a:buChar char=""/>
            </a:pPr>
            <a:r>
              <a:rPr b="0" lang="en-US" sz="1150" spc="-1" strike="noStrike">
                <a:solidFill>
                  <a:srgbClr val="36454f"/>
                </a:solidFill>
                <a:latin typeface="Calibri"/>
                <a:ea typeface="Calibri"/>
              </a:rPr>
              <a:t>Build QWeb PDF reports</a:t>
            </a:r>
            <a:endParaRPr b="0" lang="en-IN" sz="115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799"/>
              </a:spcAft>
              <a:buClr>
                <a:srgbClr val="36454f"/>
              </a:buClr>
              <a:buFont typeface="Symbol"/>
              <a:buChar char=""/>
            </a:pPr>
            <a:r>
              <a:rPr b="0" lang="en-US" sz="1150" spc="-1" strike="noStrike">
                <a:solidFill>
                  <a:srgbClr val="36454f"/>
                </a:solidFill>
                <a:latin typeface="Calibri"/>
                <a:ea typeface="Calibri"/>
              </a:rPr>
              <a:t>Integrate Odoo with external APIs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125" name="Shape 7"/>
          <p:cNvSpPr/>
          <p:nvPr/>
        </p:nvSpPr>
        <p:spPr>
          <a:xfrm>
            <a:off x="2450520" y="1005840"/>
            <a:ext cx="2009880" cy="37929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26" name="Shape 8"/>
          <p:cNvSpPr/>
          <p:nvPr/>
        </p:nvSpPr>
        <p:spPr>
          <a:xfrm>
            <a:off x="2450520" y="1005840"/>
            <a:ext cx="2009880" cy="455400"/>
          </a:xfrm>
          <a:prstGeom prst="rect">
            <a:avLst/>
          </a:prstGeom>
          <a:solidFill>
            <a:srgbClr val="0d8a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7" name="Text 9"/>
          <p:cNvSpPr/>
          <p:nvPr/>
        </p:nvSpPr>
        <p:spPr>
          <a:xfrm>
            <a:off x="2523600" y="1005840"/>
            <a:ext cx="18637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Python / Backend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28" name="Text 10"/>
          <p:cNvSpPr/>
          <p:nvPr/>
        </p:nvSpPr>
        <p:spPr>
          <a:xfrm>
            <a:off x="2541960" y="1554480"/>
            <a:ext cx="1827000" cy="31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>
              <a:lnSpc>
                <a:spcPct val="100000"/>
              </a:lnSpc>
              <a:spcAft>
                <a:spcPts val="799"/>
              </a:spcAft>
              <a:buClr>
                <a:srgbClr val="36454f"/>
              </a:buClr>
              <a:buFont typeface="Symbol"/>
              <a:buChar char=""/>
            </a:pPr>
            <a:r>
              <a:rPr b="0" lang="en-US" sz="1150" spc="-1" strike="noStrike">
                <a:solidFill>
                  <a:srgbClr val="36454f"/>
                </a:solidFill>
                <a:latin typeface="Calibri"/>
                <a:ea typeface="Calibri"/>
              </a:rPr>
              <a:t>Strengthen OOP &amp; core Python skills</a:t>
            </a:r>
            <a:endParaRPr b="0" lang="en-IN" sz="115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799"/>
              </a:spcAft>
              <a:buClr>
                <a:srgbClr val="36454f"/>
              </a:buClr>
              <a:buFont typeface="Symbol"/>
              <a:buChar char=""/>
            </a:pPr>
            <a:r>
              <a:rPr b="0" lang="en-US" sz="1150" spc="-1" strike="noStrike">
                <a:solidFill>
                  <a:srgbClr val="36454f"/>
                </a:solidFill>
                <a:latin typeface="Calibri"/>
                <a:ea typeface="Calibri"/>
              </a:rPr>
              <a:t>Build REST APIs using Flask</a:t>
            </a:r>
            <a:endParaRPr b="0" lang="en-IN" sz="115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799"/>
              </a:spcAft>
              <a:buClr>
                <a:srgbClr val="36454f"/>
              </a:buClr>
              <a:buFont typeface="Symbol"/>
              <a:buChar char=""/>
            </a:pPr>
            <a:r>
              <a:rPr b="0" lang="en-US" sz="1150" spc="-1" strike="noStrike">
                <a:solidFill>
                  <a:srgbClr val="36454f"/>
                </a:solidFill>
                <a:latin typeface="Calibri"/>
                <a:ea typeface="Calibri"/>
              </a:rPr>
              <a:t>Data processing &amp; automation scripts</a:t>
            </a:r>
            <a:endParaRPr b="0" lang="en-IN" sz="115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799"/>
              </a:spcAft>
              <a:buClr>
                <a:srgbClr val="36454f"/>
              </a:buClr>
              <a:buFont typeface="Symbol"/>
              <a:buChar char=""/>
            </a:pPr>
            <a:r>
              <a:rPr b="0" lang="en-US" sz="1150" spc="-1" strike="noStrike">
                <a:solidFill>
                  <a:srgbClr val="36454f"/>
                </a:solidFill>
                <a:latin typeface="Calibri"/>
                <a:ea typeface="Calibri"/>
              </a:rPr>
              <a:t>Test APIs with Postman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129" name="Shape 11"/>
          <p:cNvSpPr/>
          <p:nvPr/>
        </p:nvSpPr>
        <p:spPr>
          <a:xfrm>
            <a:off x="4626720" y="1005840"/>
            <a:ext cx="2009880" cy="37929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30" name="Shape 12"/>
          <p:cNvSpPr/>
          <p:nvPr/>
        </p:nvSpPr>
        <p:spPr>
          <a:xfrm>
            <a:off x="4626720" y="1005840"/>
            <a:ext cx="2009880" cy="455400"/>
          </a:xfrm>
          <a:prstGeom prst="rect">
            <a:avLst/>
          </a:prstGeom>
          <a:solidFill>
            <a:srgbClr val="7b3f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1" name="Text 13"/>
          <p:cNvSpPr/>
          <p:nvPr/>
        </p:nvSpPr>
        <p:spPr>
          <a:xfrm>
            <a:off x="4700160" y="1005840"/>
            <a:ext cx="18637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Mobile / Flutter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32" name="Text 14"/>
          <p:cNvSpPr/>
          <p:nvPr/>
        </p:nvSpPr>
        <p:spPr>
          <a:xfrm>
            <a:off x="4718160" y="1554480"/>
            <a:ext cx="1827000" cy="31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>
              <a:lnSpc>
                <a:spcPct val="100000"/>
              </a:lnSpc>
              <a:spcAft>
                <a:spcPts val="799"/>
              </a:spcAft>
              <a:buClr>
                <a:srgbClr val="36454f"/>
              </a:buClr>
              <a:buFont typeface="Symbol"/>
              <a:buChar char=""/>
            </a:pPr>
            <a:r>
              <a:rPr b="0" lang="en-US" sz="1150" spc="-1" strike="noStrike">
                <a:solidFill>
                  <a:srgbClr val="36454f"/>
                </a:solidFill>
                <a:latin typeface="Calibri"/>
                <a:ea typeface="Calibri"/>
              </a:rPr>
              <a:t>Understand cross-platform architecture</a:t>
            </a:r>
            <a:endParaRPr b="0" lang="en-IN" sz="115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799"/>
              </a:spcAft>
              <a:buClr>
                <a:srgbClr val="36454f"/>
              </a:buClr>
              <a:buFont typeface="Symbol"/>
              <a:buChar char=""/>
            </a:pPr>
            <a:r>
              <a:rPr b="0" lang="en-US" sz="1150" spc="-1" strike="noStrike">
                <a:solidFill>
                  <a:srgbClr val="36454f"/>
                </a:solidFill>
                <a:latin typeface="Calibri"/>
                <a:ea typeface="Calibri"/>
              </a:rPr>
              <a:t>Learn Flutter widgets &amp; Dart</a:t>
            </a:r>
            <a:endParaRPr b="0" lang="en-IN" sz="115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799"/>
              </a:spcAft>
              <a:buClr>
                <a:srgbClr val="36454f"/>
              </a:buClr>
              <a:buFont typeface="Symbol"/>
              <a:buChar char=""/>
            </a:pPr>
            <a:r>
              <a:rPr b="0" lang="en-US" sz="1150" spc="-1" strike="noStrike">
                <a:solidFill>
                  <a:srgbClr val="36454f"/>
                </a:solidFill>
                <a:latin typeface="Calibri"/>
                <a:ea typeface="Calibri"/>
              </a:rPr>
              <a:t>Integrate APIs into Flutter apps</a:t>
            </a:r>
            <a:endParaRPr b="0" lang="en-IN" sz="115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799"/>
              </a:spcAft>
              <a:buClr>
                <a:srgbClr val="36454f"/>
              </a:buClr>
              <a:buFont typeface="Symbol"/>
              <a:buChar char=""/>
            </a:pPr>
            <a:r>
              <a:rPr b="0" lang="en-US" sz="1150" spc="-1" strike="noStrike">
                <a:solidFill>
                  <a:srgbClr val="36454f"/>
                </a:solidFill>
                <a:latin typeface="Calibri"/>
                <a:ea typeface="Calibri"/>
              </a:rPr>
              <a:t>Basic state management concepts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133" name="Shape 15"/>
          <p:cNvSpPr/>
          <p:nvPr/>
        </p:nvSpPr>
        <p:spPr>
          <a:xfrm>
            <a:off x="6803280" y="1005840"/>
            <a:ext cx="2009880" cy="37929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34" name="Shape 16"/>
          <p:cNvSpPr/>
          <p:nvPr/>
        </p:nvSpPr>
        <p:spPr>
          <a:xfrm>
            <a:off x="6803280" y="1005840"/>
            <a:ext cx="2009880" cy="455400"/>
          </a:xfrm>
          <a:prstGeom prst="rect">
            <a:avLst/>
          </a:prstGeom>
          <a:solidFill>
            <a:srgbClr val="f5a62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5" name="Text 17"/>
          <p:cNvSpPr/>
          <p:nvPr/>
        </p:nvSpPr>
        <p:spPr>
          <a:xfrm>
            <a:off x="6876360" y="1005840"/>
            <a:ext cx="18637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Professional Growth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36" name="Text 18"/>
          <p:cNvSpPr/>
          <p:nvPr/>
        </p:nvSpPr>
        <p:spPr>
          <a:xfrm>
            <a:off x="6894720" y="1554480"/>
            <a:ext cx="1827000" cy="31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>
              <a:lnSpc>
                <a:spcPct val="100000"/>
              </a:lnSpc>
              <a:spcAft>
                <a:spcPts val="799"/>
              </a:spcAft>
              <a:buClr>
                <a:srgbClr val="36454f"/>
              </a:buClr>
              <a:buFont typeface="Symbol"/>
              <a:buChar char=""/>
            </a:pPr>
            <a:r>
              <a:rPr b="0" lang="en-US" sz="1150" spc="-1" strike="noStrike">
                <a:solidFill>
                  <a:srgbClr val="36454f"/>
                </a:solidFill>
                <a:latin typeface="Calibri"/>
                <a:ea typeface="Calibri"/>
              </a:rPr>
              <a:t>Team communication &amp; daily stand-ups</a:t>
            </a:r>
            <a:endParaRPr b="0" lang="en-IN" sz="115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799"/>
              </a:spcAft>
              <a:buClr>
                <a:srgbClr val="36454f"/>
              </a:buClr>
              <a:buFont typeface="Symbol"/>
              <a:buChar char=""/>
            </a:pPr>
            <a:r>
              <a:rPr b="0" lang="en-US" sz="1150" spc="-1" strike="noStrike">
                <a:solidFill>
                  <a:srgbClr val="36454f"/>
                </a:solidFill>
                <a:latin typeface="Calibri"/>
                <a:ea typeface="Calibri"/>
              </a:rPr>
              <a:t>Time management across domains</a:t>
            </a:r>
            <a:endParaRPr b="0" lang="en-IN" sz="115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799"/>
              </a:spcAft>
              <a:buClr>
                <a:srgbClr val="36454f"/>
              </a:buClr>
              <a:buFont typeface="Symbol"/>
              <a:buChar char=""/>
            </a:pPr>
            <a:r>
              <a:rPr b="0" lang="en-US" sz="1150" spc="-1" strike="noStrike">
                <a:solidFill>
                  <a:srgbClr val="36454f"/>
                </a:solidFill>
                <a:latin typeface="Calibri"/>
                <a:ea typeface="Calibri"/>
              </a:rPr>
              <a:t>Code documentation &amp; version control</a:t>
            </a:r>
            <a:endParaRPr b="0" lang="en-IN" sz="115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799"/>
              </a:spcAft>
              <a:buClr>
                <a:srgbClr val="36454f"/>
              </a:buClr>
              <a:buFont typeface="Symbol"/>
              <a:buChar char=""/>
            </a:pPr>
            <a:r>
              <a:rPr b="0" lang="en-US" sz="1150" spc="-1" strike="noStrike">
                <a:solidFill>
                  <a:srgbClr val="36454f"/>
                </a:solidFill>
                <a:latin typeface="Calibri"/>
                <a:ea typeface="Calibri"/>
              </a:rPr>
              <a:t>Client requirement understanding</a:t>
            </a:r>
            <a:endParaRPr b="0" lang="en-IN" sz="11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Shape 0"/>
          <p:cNvSpPr/>
          <p:nvPr/>
        </p:nvSpPr>
        <p:spPr>
          <a:xfrm>
            <a:off x="0" y="0"/>
            <a:ext cx="9142200" cy="912600"/>
          </a:xfrm>
          <a:prstGeom prst="rect">
            <a:avLst/>
          </a:prstGeom>
          <a:solidFill>
            <a:srgbClr val="1a2b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8" name="Text 1"/>
          <p:cNvSpPr/>
          <p:nvPr/>
        </p:nvSpPr>
        <p:spPr>
          <a:xfrm>
            <a:off x="365760" y="0"/>
            <a:ext cx="841068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  <a:ea typeface="Calibri"/>
              </a:rPr>
              <a:t>Work Done – Odoo / ERP Development  (40%)</a:t>
            </a:r>
            <a:endParaRPr b="0" lang="en-IN" sz="2800" spc="-1" strike="noStrike">
              <a:latin typeface="Arial"/>
            </a:endParaRPr>
          </a:p>
        </p:txBody>
      </p:sp>
      <p:sp>
        <p:nvSpPr>
          <p:cNvPr id="139" name="Shape 2"/>
          <p:cNvSpPr/>
          <p:nvPr/>
        </p:nvSpPr>
        <p:spPr>
          <a:xfrm>
            <a:off x="0" y="0"/>
            <a:ext cx="62280" cy="912600"/>
          </a:xfrm>
          <a:prstGeom prst="rect">
            <a:avLst/>
          </a:prstGeom>
          <a:solidFill>
            <a:srgbClr val="0d8a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0" name="Text 3"/>
          <p:cNvSpPr/>
          <p:nvPr/>
        </p:nvSpPr>
        <p:spPr>
          <a:xfrm>
            <a:off x="365760" y="1005840"/>
            <a:ext cx="5118840" cy="397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>
              <a:lnSpc>
                <a:spcPct val="100000"/>
              </a:lnSpc>
              <a:spcAft>
                <a:spcPts val="400"/>
              </a:spcAft>
              <a:buClr>
                <a:srgbClr val="36454f"/>
              </a:buClr>
              <a:buFont typeface="Symbol"/>
              <a:buChar char=""/>
            </a:pPr>
            <a:r>
              <a:rPr b="0" lang="en-US" sz="1500" spc="-1" strike="noStrike">
                <a:solidFill>
                  <a:srgbClr val="36454f"/>
                </a:solidFill>
                <a:latin typeface="Calibri"/>
                <a:ea typeface="Calibri"/>
              </a:rPr>
              <a:t>Studied Odoo architecture: base modules, ORM layer, server framework &amp; web client</a:t>
            </a:r>
            <a:endParaRPr b="0" lang="en-IN" sz="15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400"/>
              </a:spcAft>
              <a:buClr>
                <a:srgbClr val="36454f"/>
              </a:buClr>
              <a:buFont typeface="Symbol"/>
              <a:buChar char=""/>
            </a:pPr>
            <a:r>
              <a:rPr b="0" lang="en-US" sz="1500" spc="-1" strike="noStrike">
                <a:solidFill>
                  <a:srgbClr val="36454f"/>
                </a:solidFill>
                <a:latin typeface="Calibri"/>
                <a:ea typeface="Calibri"/>
              </a:rPr>
              <a:t>Created custom Odoo module manifest files (odoo/addons structure)</a:t>
            </a:r>
            <a:endParaRPr b="0" lang="en-IN" sz="15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400"/>
              </a:spcAft>
              <a:buClr>
                <a:srgbClr val="36454f"/>
              </a:buClr>
              <a:buFont typeface="Symbol"/>
              <a:buChar char=""/>
            </a:pPr>
            <a:r>
              <a:rPr b="0" lang="en-US" sz="1500" spc="-1" strike="noStrike">
                <a:solidFill>
                  <a:srgbClr val="36454f"/>
                </a:solidFill>
                <a:latin typeface="Calibri"/>
                <a:ea typeface="Calibri"/>
              </a:rPr>
              <a:t>Built Python models using fields.Char, Many2one, One2many, and @api methods</a:t>
            </a:r>
            <a:endParaRPr b="0" lang="en-IN" sz="15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400"/>
              </a:spcAft>
              <a:buClr>
                <a:srgbClr val="36454f"/>
              </a:buClr>
              <a:buFont typeface="Symbol"/>
              <a:buChar char=""/>
            </a:pPr>
            <a:r>
              <a:rPr b="0" lang="en-US" sz="1500" spc="-1" strike="noStrike">
                <a:solidFill>
                  <a:srgbClr val="36454f"/>
                </a:solidFill>
                <a:latin typeface="Calibri"/>
                <a:ea typeface="Calibri"/>
              </a:rPr>
              <a:t>Designed form, list, kanban XML views and applied domain filters &amp; onchange decorators</a:t>
            </a:r>
            <a:endParaRPr b="0" lang="en-IN" sz="15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400"/>
              </a:spcAft>
              <a:buClr>
                <a:srgbClr val="36454f"/>
              </a:buClr>
              <a:buFont typeface="Symbol"/>
              <a:buChar char=""/>
            </a:pPr>
            <a:r>
              <a:rPr b="0" lang="en-US" sz="1500" spc="-1" strike="noStrike">
                <a:solidFill>
                  <a:srgbClr val="36454f"/>
                </a:solidFill>
                <a:latin typeface="Calibri"/>
                <a:ea typeface="Calibri"/>
              </a:rPr>
              <a:t>Developed QWeb PDF report templates for the Garage Management Module</a:t>
            </a:r>
            <a:endParaRPr b="0" lang="en-IN" sz="15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400"/>
              </a:spcAft>
              <a:buClr>
                <a:srgbClr val="36454f"/>
              </a:buClr>
              <a:buFont typeface="Symbol"/>
              <a:buChar char=""/>
            </a:pPr>
            <a:r>
              <a:rPr b="0" lang="en-US" sz="1500" spc="-1" strike="noStrike">
                <a:solidFill>
                  <a:srgbClr val="36454f"/>
                </a:solidFill>
                <a:latin typeface="Calibri"/>
                <a:ea typeface="Calibri"/>
              </a:rPr>
              <a:t>Integrated the module with Odoo's Sales &amp; Inventory apps</a:t>
            </a:r>
            <a:endParaRPr b="0" lang="en-IN" sz="15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400"/>
              </a:spcAft>
              <a:buClr>
                <a:srgbClr val="36454f"/>
              </a:buClr>
              <a:buFont typeface="Symbol"/>
              <a:buChar char=""/>
            </a:pPr>
            <a:r>
              <a:rPr b="0" lang="en-US" sz="1500" spc="-1" strike="noStrike">
                <a:solidFill>
                  <a:srgbClr val="36454f"/>
                </a:solidFill>
                <a:latin typeface="Calibri"/>
                <a:ea typeface="Calibri"/>
              </a:rPr>
              <a:t>Completed Garage Management Module reviewed and approved by senior developer</a:t>
            </a:r>
            <a:endParaRPr b="0" lang="en-IN" sz="15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400"/>
              </a:spcAft>
              <a:buClr>
                <a:srgbClr val="36454f"/>
              </a:buClr>
              <a:buFont typeface="Symbol"/>
              <a:buChar char=""/>
            </a:pPr>
            <a:r>
              <a:rPr b="0" lang="en-US" sz="1500" spc="-1" strike="noStrike">
                <a:solidFill>
                  <a:srgbClr val="36454f"/>
                </a:solidFill>
                <a:latin typeface="Calibri"/>
                <a:ea typeface="Calibri"/>
              </a:rPr>
              <a:t>Module deployed into the company's staging Odoo instance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141" name="Shape 4"/>
          <p:cNvSpPr/>
          <p:nvPr/>
        </p:nvSpPr>
        <p:spPr>
          <a:xfrm>
            <a:off x="5760720" y="1005840"/>
            <a:ext cx="3107160" cy="3975840"/>
          </a:xfrm>
          <a:prstGeom prst="rect">
            <a:avLst/>
          </a:prstGeom>
          <a:solidFill>
            <a:srgbClr val="1a2b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2" name="Text 5"/>
          <p:cNvSpPr/>
          <p:nvPr/>
        </p:nvSpPr>
        <p:spPr>
          <a:xfrm>
            <a:off x="5897880" y="1097280"/>
            <a:ext cx="28328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fb4b4"/>
                </a:solidFill>
                <a:latin typeface="Calibri"/>
                <a:ea typeface="Calibri"/>
              </a:rPr>
              <a:t>Key Deliverable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43" name="Text 6"/>
          <p:cNvSpPr/>
          <p:nvPr/>
        </p:nvSpPr>
        <p:spPr>
          <a:xfrm>
            <a:off x="5897880" y="1554480"/>
            <a:ext cx="28328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Garage Management Module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44" name="Text 7"/>
          <p:cNvSpPr/>
          <p:nvPr/>
        </p:nvSpPr>
        <p:spPr>
          <a:xfrm>
            <a:off x="5897880" y="2103120"/>
            <a:ext cx="2832840" cy="255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ffffff"/>
                </a:solidFill>
                <a:latin typeface="Calibri"/>
                <a:ea typeface="Calibri"/>
              </a:rPr>
              <a:t>✔  </a:t>
            </a:r>
            <a:r>
              <a:rPr b="0" lang="en-US" sz="1250" spc="-1" strike="noStrike">
                <a:solidFill>
                  <a:srgbClr val="ffffff"/>
                </a:solidFill>
                <a:latin typeface="Calibri"/>
                <a:ea typeface="Calibri"/>
              </a:rPr>
              <a:t>Custom Python Models</a:t>
            </a:r>
            <a:endParaRPr b="0" lang="en-IN" sz="125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ffffff"/>
                </a:solidFill>
                <a:latin typeface="Calibri"/>
                <a:ea typeface="Calibri"/>
              </a:rPr>
              <a:t>✔  </a:t>
            </a:r>
            <a:r>
              <a:rPr b="0" lang="en-US" sz="1250" spc="-1" strike="noStrike">
                <a:solidFill>
                  <a:srgbClr val="ffffff"/>
                </a:solidFill>
                <a:latin typeface="Calibri"/>
                <a:ea typeface="Calibri"/>
              </a:rPr>
              <a:t>XML Form &amp; List Views</a:t>
            </a:r>
            <a:endParaRPr b="0" lang="en-IN" sz="125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ffffff"/>
                </a:solidFill>
                <a:latin typeface="Calibri"/>
                <a:ea typeface="Calibri"/>
              </a:rPr>
              <a:t>✔  </a:t>
            </a:r>
            <a:r>
              <a:rPr b="0" lang="en-US" sz="1250" spc="-1" strike="noStrike">
                <a:solidFill>
                  <a:srgbClr val="ffffff"/>
                </a:solidFill>
                <a:latin typeface="Calibri"/>
                <a:ea typeface="Calibri"/>
              </a:rPr>
              <a:t>QWeb PDF Reports</a:t>
            </a:r>
            <a:endParaRPr b="0" lang="en-IN" sz="125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ffffff"/>
                </a:solidFill>
                <a:latin typeface="Calibri"/>
                <a:ea typeface="Calibri"/>
              </a:rPr>
              <a:t>✔  </a:t>
            </a:r>
            <a:r>
              <a:rPr b="0" lang="en-US" sz="1250" spc="-1" strike="noStrike">
                <a:solidFill>
                  <a:srgbClr val="ffffff"/>
                </a:solidFill>
                <a:latin typeface="Calibri"/>
                <a:ea typeface="Calibri"/>
              </a:rPr>
              <a:t>Sales &amp; Inventory Integration</a:t>
            </a:r>
            <a:endParaRPr b="0" lang="en-IN" sz="12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ffffff"/>
                </a:solidFill>
                <a:latin typeface="Calibri"/>
                <a:ea typeface="Calibri"/>
              </a:rPr>
              <a:t>✔  </a:t>
            </a:r>
            <a:r>
              <a:rPr b="0" lang="en-US" sz="1250" spc="-1" strike="noStrike">
                <a:solidFill>
                  <a:srgbClr val="ffffff"/>
                </a:solidFill>
                <a:latin typeface="Calibri"/>
                <a:ea typeface="Calibri"/>
              </a:rPr>
              <a:t>Deployed to Staging</a:t>
            </a:r>
            <a:endParaRPr b="0" lang="en-IN" sz="12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Shape 0"/>
          <p:cNvSpPr/>
          <p:nvPr/>
        </p:nvSpPr>
        <p:spPr>
          <a:xfrm>
            <a:off x="0" y="0"/>
            <a:ext cx="9142200" cy="912600"/>
          </a:xfrm>
          <a:prstGeom prst="rect">
            <a:avLst/>
          </a:prstGeom>
          <a:solidFill>
            <a:srgbClr val="1a2b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6" name="Text 1"/>
          <p:cNvSpPr/>
          <p:nvPr/>
        </p:nvSpPr>
        <p:spPr>
          <a:xfrm>
            <a:off x="365760" y="0"/>
            <a:ext cx="841068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  <a:ea typeface="Calibri"/>
              </a:rPr>
              <a:t>Work Done – Python / Backend Development  (35%)</a:t>
            </a:r>
            <a:endParaRPr b="0" lang="en-IN" sz="2800" spc="-1" strike="noStrike">
              <a:latin typeface="Arial"/>
            </a:endParaRPr>
          </a:p>
        </p:txBody>
      </p:sp>
      <p:sp>
        <p:nvSpPr>
          <p:cNvPr id="147" name="Shape 2"/>
          <p:cNvSpPr/>
          <p:nvPr/>
        </p:nvSpPr>
        <p:spPr>
          <a:xfrm>
            <a:off x="0" y="0"/>
            <a:ext cx="62280" cy="912600"/>
          </a:xfrm>
          <a:prstGeom prst="rect">
            <a:avLst/>
          </a:prstGeom>
          <a:solidFill>
            <a:srgbClr val="0d8a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8" name="Shape 3"/>
          <p:cNvSpPr/>
          <p:nvPr/>
        </p:nvSpPr>
        <p:spPr>
          <a:xfrm>
            <a:off x="274320" y="1051560"/>
            <a:ext cx="4158720" cy="15526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49" name="Shape 4"/>
          <p:cNvSpPr/>
          <p:nvPr/>
        </p:nvSpPr>
        <p:spPr>
          <a:xfrm>
            <a:off x="274320" y="1051560"/>
            <a:ext cx="4158720" cy="108000"/>
          </a:xfrm>
          <a:prstGeom prst="rect">
            <a:avLst/>
          </a:prstGeom>
          <a:solidFill>
            <a:srgbClr val="0d8a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0" name="Text 5"/>
          <p:cNvSpPr/>
          <p:nvPr/>
        </p:nvSpPr>
        <p:spPr>
          <a:xfrm>
            <a:off x="411480" y="1216080"/>
            <a:ext cx="38386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1a2b5e"/>
                </a:solidFill>
                <a:latin typeface="Calibri"/>
                <a:ea typeface="Calibri"/>
              </a:rPr>
              <a:t>🐍  </a:t>
            </a:r>
            <a:r>
              <a:rPr b="1" lang="en-US" sz="1400" spc="-1" strike="noStrike">
                <a:solidFill>
                  <a:srgbClr val="1a2b5e"/>
                </a:solidFill>
                <a:latin typeface="Calibri"/>
                <a:ea typeface="Calibri"/>
              </a:rPr>
              <a:t>Python Fundamentals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51" name="Text 6"/>
          <p:cNvSpPr/>
          <p:nvPr/>
        </p:nvSpPr>
        <p:spPr>
          <a:xfrm>
            <a:off x="411480" y="1581840"/>
            <a:ext cx="383868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36454f"/>
                </a:solidFill>
                <a:latin typeface="Calibri"/>
                <a:ea typeface="Calibri"/>
              </a:rPr>
              <a:t>OOP, decorators, list comprehensions, file I/O, exception handling, and standard libraries in a professional codebase.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52" name="Shape 7"/>
          <p:cNvSpPr/>
          <p:nvPr/>
        </p:nvSpPr>
        <p:spPr>
          <a:xfrm>
            <a:off x="4709160" y="1051560"/>
            <a:ext cx="4158720" cy="15526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53" name="Shape 8"/>
          <p:cNvSpPr/>
          <p:nvPr/>
        </p:nvSpPr>
        <p:spPr>
          <a:xfrm>
            <a:off x="4709160" y="1051560"/>
            <a:ext cx="4158720" cy="108000"/>
          </a:xfrm>
          <a:prstGeom prst="rect">
            <a:avLst/>
          </a:prstGeom>
          <a:solidFill>
            <a:srgbClr val="0d8a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4" name="Text 9"/>
          <p:cNvSpPr/>
          <p:nvPr/>
        </p:nvSpPr>
        <p:spPr>
          <a:xfrm>
            <a:off x="4846320" y="1216080"/>
            <a:ext cx="38386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1a2b5e"/>
                </a:solidFill>
                <a:latin typeface="Calibri"/>
                <a:ea typeface="Calibri"/>
              </a:rPr>
              <a:t>🌐  </a:t>
            </a:r>
            <a:r>
              <a:rPr b="1" lang="en-US" sz="1400" spc="-1" strike="noStrike">
                <a:solidFill>
                  <a:srgbClr val="1a2b5e"/>
                </a:solidFill>
                <a:latin typeface="Calibri"/>
                <a:ea typeface="Calibri"/>
              </a:rPr>
              <a:t>REST API with Flask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55" name="Text 10"/>
          <p:cNvSpPr/>
          <p:nvPr/>
        </p:nvSpPr>
        <p:spPr>
          <a:xfrm>
            <a:off x="4846320" y="1581840"/>
            <a:ext cx="383868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36454f"/>
                </a:solidFill>
                <a:latin typeface="Calibri"/>
                <a:ea typeface="Calibri"/>
              </a:rPr>
              <a:t>Built endpoints for user authentication, product catalog, booking management, and real-time status updates.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56" name="Shape 11"/>
          <p:cNvSpPr/>
          <p:nvPr/>
        </p:nvSpPr>
        <p:spPr>
          <a:xfrm>
            <a:off x="274320" y="2834640"/>
            <a:ext cx="4158720" cy="15526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57" name="Shape 12"/>
          <p:cNvSpPr/>
          <p:nvPr/>
        </p:nvSpPr>
        <p:spPr>
          <a:xfrm>
            <a:off x="274320" y="2834640"/>
            <a:ext cx="4158720" cy="108000"/>
          </a:xfrm>
          <a:prstGeom prst="rect">
            <a:avLst/>
          </a:prstGeom>
          <a:solidFill>
            <a:srgbClr val="0d8a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8" name="Text 13"/>
          <p:cNvSpPr/>
          <p:nvPr/>
        </p:nvSpPr>
        <p:spPr>
          <a:xfrm>
            <a:off x="411480" y="2999160"/>
            <a:ext cx="38386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1a2b5e"/>
                </a:solidFill>
                <a:latin typeface="Calibri"/>
                <a:ea typeface="Calibri"/>
              </a:rPr>
              <a:t>🔧  </a:t>
            </a:r>
            <a:r>
              <a:rPr b="1" lang="en-US" sz="1400" spc="-1" strike="noStrike">
                <a:solidFill>
                  <a:srgbClr val="1a2b5e"/>
                </a:solidFill>
                <a:latin typeface="Calibri"/>
                <a:ea typeface="Calibri"/>
              </a:rPr>
              <a:t>Data Processing Scripts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59" name="Text 14"/>
          <p:cNvSpPr/>
          <p:nvPr/>
        </p:nvSpPr>
        <p:spPr>
          <a:xfrm>
            <a:off x="411480" y="3364920"/>
            <a:ext cx="383868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36454f"/>
                </a:solidFill>
                <a:latin typeface="Calibri"/>
                <a:ea typeface="Calibri"/>
              </a:rPr>
              <a:t>Automated data import, transformation, and export scripts to process client datasets.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60" name="Shape 15"/>
          <p:cNvSpPr/>
          <p:nvPr/>
        </p:nvSpPr>
        <p:spPr>
          <a:xfrm>
            <a:off x="4709160" y="2834640"/>
            <a:ext cx="4158720" cy="15526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61" name="Shape 16"/>
          <p:cNvSpPr/>
          <p:nvPr/>
        </p:nvSpPr>
        <p:spPr>
          <a:xfrm>
            <a:off x="4709160" y="2834640"/>
            <a:ext cx="4158720" cy="108000"/>
          </a:xfrm>
          <a:prstGeom prst="rect">
            <a:avLst/>
          </a:prstGeom>
          <a:solidFill>
            <a:srgbClr val="0d8a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2" name="Text 17"/>
          <p:cNvSpPr/>
          <p:nvPr/>
        </p:nvSpPr>
        <p:spPr>
          <a:xfrm>
            <a:off x="4846320" y="2999160"/>
            <a:ext cx="38386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1a2b5e"/>
                </a:solidFill>
                <a:latin typeface="Calibri"/>
                <a:ea typeface="Calibri"/>
              </a:rPr>
              <a:t>📬  </a:t>
            </a:r>
            <a:r>
              <a:rPr b="1" lang="en-US" sz="1400" spc="-1" strike="noStrike">
                <a:solidFill>
                  <a:srgbClr val="1a2b5e"/>
                </a:solidFill>
                <a:latin typeface="Calibri"/>
                <a:ea typeface="Calibri"/>
              </a:rPr>
              <a:t>Testing &amp; Documentation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63" name="Text 18"/>
          <p:cNvSpPr/>
          <p:nvPr/>
        </p:nvSpPr>
        <p:spPr>
          <a:xfrm>
            <a:off x="4846320" y="3364920"/>
            <a:ext cx="383868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36454f"/>
                </a:solidFill>
                <a:latin typeface="Calibri"/>
                <a:ea typeface="Calibri"/>
              </a:rPr>
              <a:t>Tested all endpoints with Postman, wrote API documentation, and resolved contract mismatches with mobile team.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Shape 0"/>
          <p:cNvSpPr/>
          <p:nvPr/>
        </p:nvSpPr>
        <p:spPr>
          <a:xfrm>
            <a:off x="0" y="0"/>
            <a:ext cx="9142200" cy="912600"/>
          </a:xfrm>
          <a:prstGeom prst="rect">
            <a:avLst/>
          </a:prstGeom>
          <a:solidFill>
            <a:srgbClr val="1a2b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5" name="Text 1"/>
          <p:cNvSpPr/>
          <p:nvPr/>
        </p:nvSpPr>
        <p:spPr>
          <a:xfrm>
            <a:off x="365760" y="0"/>
            <a:ext cx="841068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  <a:ea typeface="Calibri"/>
              </a:rPr>
              <a:t>Weekly Work Summary</a:t>
            </a:r>
            <a:endParaRPr b="0" lang="en-IN" sz="2800" spc="-1" strike="noStrike">
              <a:latin typeface="Arial"/>
            </a:endParaRPr>
          </a:p>
        </p:txBody>
      </p:sp>
      <p:sp>
        <p:nvSpPr>
          <p:cNvPr id="166" name="Shape 2"/>
          <p:cNvSpPr/>
          <p:nvPr/>
        </p:nvSpPr>
        <p:spPr>
          <a:xfrm>
            <a:off x="0" y="0"/>
            <a:ext cx="62280" cy="912600"/>
          </a:xfrm>
          <a:prstGeom prst="rect">
            <a:avLst/>
          </a:prstGeom>
          <a:solidFill>
            <a:srgbClr val="0d8a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7" name="Shape 3"/>
          <p:cNvSpPr/>
          <p:nvPr/>
        </p:nvSpPr>
        <p:spPr>
          <a:xfrm>
            <a:off x="274320" y="969120"/>
            <a:ext cx="8593560" cy="382320"/>
          </a:xfrm>
          <a:prstGeom prst="rect">
            <a:avLst/>
          </a:prstGeom>
          <a:solidFill>
            <a:srgbClr val="1a2b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8" name="Text 4"/>
          <p:cNvSpPr/>
          <p:nvPr/>
        </p:nvSpPr>
        <p:spPr>
          <a:xfrm>
            <a:off x="274320" y="969120"/>
            <a:ext cx="1324080" cy="38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Week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69" name="Text 5"/>
          <p:cNvSpPr/>
          <p:nvPr/>
        </p:nvSpPr>
        <p:spPr>
          <a:xfrm>
            <a:off x="1691640" y="969120"/>
            <a:ext cx="1278360" cy="38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Dates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70" name="Text 6"/>
          <p:cNvSpPr/>
          <p:nvPr/>
        </p:nvSpPr>
        <p:spPr>
          <a:xfrm>
            <a:off x="3063240" y="969120"/>
            <a:ext cx="1552680" cy="38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Focus Area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71" name="Text 7"/>
          <p:cNvSpPr/>
          <p:nvPr/>
        </p:nvSpPr>
        <p:spPr>
          <a:xfrm>
            <a:off x="4709160" y="969120"/>
            <a:ext cx="2375640" cy="38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Work Summary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72" name="Text 8"/>
          <p:cNvSpPr/>
          <p:nvPr/>
        </p:nvSpPr>
        <p:spPr>
          <a:xfrm>
            <a:off x="7178040" y="969120"/>
            <a:ext cx="1689840" cy="38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Key Outcome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73" name="Shape 9"/>
          <p:cNvSpPr/>
          <p:nvPr/>
        </p:nvSpPr>
        <p:spPr>
          <a:xfrm>
            <a:off x="274320" y="1408320"/>
            <a:ext cx="8593560" cy="675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4" name="Shape 10"/>
          <p:cNvSpPr/>
          <p:nvPr/>
        </p:nvSpPr>
        <p:spPr>
          <a:xfrm>
            <a:off x="274320" y="1408320"/>
            <a:ext cx="2604240" cy="675000"/>
          </a:xfrm>
          <a:prstGeom prst="rect">
            <a:avLst/>
          </a:prstGeom>
          <a:solidFill>
            <a:srgbClr val="1a2b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5" name="Text 11"/>
          <p:cNvSpPr/>
          <p:nvPr/>
        </p:nvSpPr>
        <p:spPr>
          <a:xfrm>
            <a:off x="274320" y="1552320"/>
            <a:ext cx="1324080" cy="38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Week 1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76" name="Text 12"/>
          <p:cNvSpPr/>
          <p:nvPr/>
        </p:nvSpPr>
        <p:spPr>
          <a:xfrm>
            <a:off x="1404000" y="1548000"/>
            <a:ext cx="1618560" cy="35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ffffff"/>
                </a:solidFill>
                <a:latin typeface="Calibri"/>
                <a:ea typeface="Calibri"/>
              </a:rPr>
              <a:t>24 Nov – 3 Dec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177" name="Text 13"/>
          <p:cNvSpPr/>
          <p:nvPr/>
        </p:nvSpPr>
        <p:spPr>
          <a:xfrm>
            <a:off x="3063240" y="1408320"/>
            <a:ext cx="155268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1a2b5e"/>
                </a:solidFill>
                <a:latin typeface="Calibri"/>
                <a:ea typeface="Calibri"/>
              </a:rPr>
              <a:t>Fundamentals of Programming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78" name="Text 14"/>
          <p:cNvSpPr/>
          <p:nvPr/>
        </p:nvSpPr>
        <p:spPr>
          <a:xfrm>
            <a:off x="4500000" y="1620000"/>
            <a:ext cx="2676600" cy="17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79280" bIns="17928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36454f"/>
                </a:solidFill>
                <a:latin typeface="Calibri"/>
                <a:ea typeface="Calibri"/>
              </a:rPr>
              <a:t>Mastered core concepts in C, C++, and Python. Covered variables, loops, functions, OOP basics, and completed assigned exercises to build a strong programming foundation.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179" name="Text 15"/>
          <p:cNvSpPr/>
          <p:nvPr/>
        </p:nvSpPr>
        <p:spPr>
          <a:xfrm>
            <a:off x="7178040" y="1408320"/>
            <a:ext cx="168984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0d8a8a"/>
                </a:solidFill>
                <a:latin typeface="Calibri"/>
                <a:ea typeface="Calibri"/>
              </a:rPr>
              <a:t>Solid base in multi-language programming concepts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80" name="Shape 16"/>
          <p:cNvSpPr/>
          <p:nvPr/>
        </p:nvSpPr>
        <p:spPr>
          <a:xfrm>
            <a:off x="274320" y="2084760"/>
            <a:ext cx="8593560" cy="16560"/>
          </a:xfrm>
          <a:prstGeom prst="rect">
            <a:avLst/>
          </a:prstGeom>
          <a:solidFill>
            <a:srgbClr val="e8ee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1" name="Shape 17"/>
          <p:cNvSpPr/>
          <p:nvPr/>
        </p:nvSpPr>
        <p:spPr>
          <a:xfrm>
            <a:off x="274320" y="2112120"/>
            <a:ext cx="8593560" cy="675000"/>
          </a:xfrm>
          <a:prstGeom prst="rect">
            <a:avLst/>
          </a:prstGeom>
          <a:solidFill>
            <a:srgbClr val="f4f7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2" name="Shape 18"/>
          <p:cNvSpPr/>
          <p:nvPr/>
        </p:nvSpPr>
        <p:spPr>
          <a:xfrm>
            <a:off x="274320" y="2112120"/>
            <a:ext cx="2604240" cy="675000"/>
          </a:xfrm>
          <a:prstGeom prst="rect">
            <a:avLst/>
          </a:prstGeom>
          <a:solidFill>
            <a:srgbClr val="0d8a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3" name="Text 19"/>
          <p:cNvSpPr/>
          <p:nvPr/>
        </p:nvSpPr>
        <p:spPr>
          <a:xfrm>
            <a:off x="274320" y="2220120"/>
            <a:ext cx="1324080" cy="38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Week 2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84" name="Text 20"/>
          <p:cNvSpPr/>
          <p:nvPr/>
        </p:nvSpPr>
        <p:spPr>
          <a:xfrm>
            <a:off x="1498320" y="2244240"/>
            <a:ext cx="132408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ffffff"/>
                </a:solidFill>
                <a:latin typeface="Calibri"/>
                <a:ea typeface="Calibri"/>
              </a:rPr>
              <a:t>4 Dec – 9 Dec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185" name="Text 21"/>
          <p:cNvSpPr/>
          <p:nvPr/>
        </p:nvSpPr>
        <p:spPr>
          <a:xfrm>
            <a:off x="3063240" y="2112120"/>
            <a:ext cx="155268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1a2b5e"/>
                </a:solidFill>
                <a:latin typeface="Calibri"/>
                <a:ea typeface="Calibri"/>
              </a:rPr>
              <a:t>SQL &amp; Database Management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86" name="Text 22"/>
          <p:cNvSpPr/>
          <p:nvPr/>
        </p:nvSpPr>
        <p:spPr>
          <a:xfrm>
            <a:off x="4500000" y="2148120"/>
            <a:ext cx="269856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36454f"/>
                </a:solidFill>
                <a:latin typeface="Calibri"/>
                <a:ea typeface="Calibri"/>
              </a:rPr>
              <a:t>Studied relational databases and table management using pgAdmin. Practised SELECT, JOIN, GROUP BY, and subqueries on real datasets provided by the team.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187" name="Text 23"/>
          <p:cNvSpPr/>
          <p:nvPr/>
        </p:nvSpPr>
        <p:spPr>
          <a:xfrm>
            <a:off x="7178040" y="2112120"/>
            <a:ext cx="168984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0d8a8a"/>
                </a:solidFill>
                <a:latin typeface="Calibri"/>
                <a:ea typeface="Calibri"/>
              </a:rPr>
              <a:t>Proficient in SQL queries and database structure design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88" name="Shape 24"/>
          <p:cNvSpPr/>
          <p:nvPr/>
        </p:nvSpPr>
        <p:spPr>
          <a:xfrm>
            <a:off x="274320" y="2788920"/>
            <a:ext cx="8593560" cy="16560"/>
          </a:xfrm>
          <a:prstGeom prst="rect">
            <a:avLst/>
          </a:prstGeom>
          <a:solidFill>
            <a:srgbClr val="e8ee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9" name="Shape 25"/>
          <p:cNvSpPr/>
          <p:nvPr/>
        </p:nvSpPr>
        <p:spPr>
          <a:xfrm>
            <a:off x="274320" y="2816280"/>
            <a:ext cx="8593560" cy="675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0" name="Shape 26"/>
          <p:cNvSpPr/>
          <p:nvPr/>
        </p:nvSpPr>
        <p:spPr>
          <a:xfrm>
            <a:off x="274320" y="2816280"/>
            <a:ext cx="2604240" cy="675000"/>
          </a:xfrm>
          <a:prstGeom prst="rect">
            <a:avLst/>
          </a:prstGeom>
          <a:solidFill>
            <a:srgbClr val="7b3f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1" name="Text 27"/>
          <p:cNvSpPr/>
          <p:nvPr/>
        </p:nvSpPr>
        <p:spPr>
          <a:xfrm>
            <a:off x="274320" y="2960280"/>
            <a:ext cx="1324080" cy="38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Week 3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92" name="Text 28"/>
          <p:cNvSpPr/>
          <p:nvPr/>
        </p:nvSpPr>
        <p:spPr>
          <a:xfrm>
            <a:off x="1498320" y="2984400"/>
            <a:ext cx="132408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ffffff"/>
                </a:solidFill>
                <a:latin typeface="Calibri"/>
                <a:ea typeface="Calibri"/>
              </a:rPr>
              <a:t>10 Dec – 16 Dec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193" name="Text 29"/>
          <p:cNvSpPr/>
          <p:nvPr/>
        </p:nvSpPr>
        <p:spPr>
          <a:xfrm>
            <a:off x="3063240" y="2816280"/>
            <a:ext cx="155268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1a2b5e"/>
                </a:solidFill>
                <a:latin typeface="Calibri"/>
                <a:ea typeface="Calibri"/>
              </a:rPr>
              <a:t>Odoo ERP Architecture &amp; Module Creation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94" name="Text 30"/>
          <p:cNvSpPr/>
          <p:nvPr/>
        </p:nvSpPr>
        <p:spPr>
          <a:xfrm>
            <a:off x="4500000" y="3024000"/>
            <a:ext cx="2698560" cy="21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36454f"/>
                </a:solidFill>
                <a:latin typeface="Calibri"/>
                <a:ea typeface="Calibri"/>
              </a:rPr>
              <a:t>Explored Odoo workflow, MVC structure, and ORM system. Created first custom module with manifest, Python model, and basic XML form/list views.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195" name="Text 31"/>
          <p:cNvSpPr/>
          <p:nvPr/>
        </p:nvSpPr>
        <p:spPr>
          <a:xfrm>
            <a:off x="7178040" y="2816280"/>
            <a:ext cx="168984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0d8a8a"/>
                </a:solidFill>
                <a:latin typeface="Calibri"/>
                <a:ea typeface="Calibri"/>
              </a:rPr>
              <a:t>Understood Odoo module structure; built first working module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96" name="Shape 32"/>
          <p:cNvSpPr/>
          <p:nvPr/>
        </p:nvSpPr>
        <p:spPr>
          <a:xfrm>
            <a:off x="274320" y="3493080"/>
            <a:ext cx="8593560" cy="16560"/>
          </a:xfrm>
          <a:prstGeom prst="rect">
            <a:avLst/>
          </a:prstGeom>
          <a:solidFill>
            <a:srgbClr val="e8ee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7" name="Shape 33"/>
          <p:cNvSpPr/>
          <p:nvPr/>
        </p:nvSpPr>
        <p:spPr>
          <a:xfrm>
            <a:off x="274320" y="3520440"/>
            <a:ext cx="8593560" cy="675000"/>
          </a:xfrm>
          <a:prstGeom prst="rect">
            <a:avLst/>
          </a:prstGeom>
          <a:solidFill>
            <a:srgbClr val="f4f7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8" name="Shape 34"/>
          <p:cNvSpPr/>
          <p:nvPr/>
        </p:nvSpPr>
        <p:spPr>
          <a:xfrm>
            <a:off x="274320" y="3520440"/>
            <a:ext cx="2604240" cy="675000"/>
          </a:xfrm>
          <a:prstGeom prst="rect">
            <a:avLst/>
          </a:prstGeom>
          <a:solidFill>
            <a:srgbClr val="c039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9" name="Text 35"/>
          <p:cNvSpPr/>
          <p:nvPr/>
        </p:nvSpPr>
        <p:spPr>
          <a:xfrm>
            <a:off x="274320" y="3664440"/>
            <a:ext cx="1324080" cy="38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Week 4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00" name="Text 36"/>
          <p:cNvSpPr/>
          <p:nvPr/>
        </p:nvSpPr>
        <p:spPr>
          <a:xfrm>
            <a:off x="1462320" y="3688560"/>
            <a:ext cx="132408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ffffff"/>
                </a:solidFill>
                <a:latin typeface="Calibri"/>
                <a:ea typeface="Calibri"/>
              </a:rPr>
              <a:t>17 Dec – 23 Dec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201" name="Text 37"/>
          <p:cNvSpPr/>
          <p:nvPr/>
        </p:nvSpPr>
        <p:spPr>
          <a:xfrm>
            <a:off x="3063240" y="3520440"/>
            <a:ext cx="155268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1a2b5e"/>
                </a:solidFill>
                <a:latin typeface="Calibri"/>
                <a:ea typeface="Calibri"/>
              </a:rPr>
              <a:t>Advanced Odoo Module Flows &amp; Business Logic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02" name="Text 38"/>
          <p:cNvSpPr/>
          <p:nvPr/>
        </p:nvSpPr>
        <p:spPr>
          <a:xfrm>
            <a:off x="4500000" y="3636000"/>
            <a:ext cx="2698560" cy="41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36454f"/>
                </a:solidFill>
                <a:latin typeface="Calibri"/>
                <a:ea typeface="Calibri"/>
              </a:rPr>
              <a:t>Built complex module logic: computed fields, onchange decorators, domain filters, QWeb PDF reports, and integrated the Garage Management Module with Sales &amp; Inventory apps.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203" name="Text 39"/>
          <p:cNvSpPr/>
          <p:nvPr/>
        </p:nvSpPr>
        <p:spPr>
          <a:xfrm>
            <a:off x="7178040" y="3520440"/>
            <a:ext cx="168984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0d8a8a"/>
                </a:solidFill>
                <a:latin typeface="Calibri"/>
                <a:ea typeface="Calibri"/>
              </a:rPr>
              <a:t>Deployed Garage Management Module to staging — approved by senior developer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04" name="Shape 40"/>
          <p:cNvSpPr/>
          <p:nvPr/>
        </p:nvSpPr>
        <p:spPr>
          <a:xfrm>
            <a:off x="274320" y="4197240"/>
            <a:ext cx="8593560" cy="16560"/>
          </a:xfrm>
          <a:prstGeom prst="rect">
            <a:avLst/>
          </a:prstGeom>
          <a:solidFill>
            <a:srgbClr val="e8eef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5" name="Shape 41"/>
          <p:cNvSpPr/>
          <p:nvPr/>
        </p:nvSpPr>
        <p:spPr>
          <a:xfrm>
            <a:off x="274320" y="4224600"/>
            <a:ext cx="8593560" cy="675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6" name="Shape 42"/>
          <p:cNvSpPr/>
          <p:nvPr/>
        </p:nvSpPr>
        <p:spPr>
          <a:xfrm>
            <a:off x="274320" y="4224600"/>
            <a:ext cx="2604240" cy="675000"/>
          </a:xfrm>
          <a:prstGeom prst="rect">
            <a:avLst/>
          </a:prstGeom>
          <a:solidFill>
            <a:srgbClr val="f5a62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7" name="Text 43"/>
          <p:cNvSpPr/>
          <p:nvPr/>
        </p:nvSpPr>
        <p:spPr>
          <a:xfrm>
            <a:off x="274320" y="4368600"/>
            <a:ext cx="1324080" cy="38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Week 5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08" name="Text 44"/>
          <p:cNvSpPr/>
          <p:nvPr/>
        </p:nvSpPr>
        <p:spPr>
          <a:xfrm>
            <a:off x="1534320" y="4392720"/>
            <a:ext cx="132408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ffffff"/>
                </a:solidFill>
                <a:latin typeface="Calibri"/>
                <a:ea typeface="Calibri"/>
              </a:rPr>
              <a:t>23 Dec – 31 Dec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209" name="Text 45"/>
          <p:cNvSpPr/>
          <p:nvPr/>
        </p:nvSpPr>
        <p:spPr>
          <a:xfrm>
            <a:off x="3063240" y="4224600"/>
            <a:ext cx="155268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1a2b5e"/>
                </a:solidFill>
                <a:latin typeface="Calibri"/>
                <a:ea typeface="Calibri"/>
              </a:rPr>
              <a:t>Real-time Project Tasks &amp; Teamwork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10" name="Text 46"/>
          <p:cNvSpPr/>
          <p:nvPr/>
        </p:nvSpPr>
        <p:spPr>
          <a:xfrm>
            <a:off x="4500000" y="4464000"/>
            <a:ext cx="2676600" cy="21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36454f"/>
                </a:solidFill>
                <a:latin typeface="Calibri"/>
                <a:ea typeface="Calibri"/>
              </a:rPr>
              <a:t>Contributed to live client projects: developed Flask REST API endpoints, resolved API contract mismatches with the mobile team, and optimised a slow PostgreSQL report query using EXPLAIN ANALYZE.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211" name="Text 47"/>
          <p:cNvSpPr/>
          <p:nvPr/>
        </p:nvSpPr>
        <p:spPr>
          <a:xfrm>
            <a:off x="7178040" y="4224600"/>
            <a:ext cx="1689840" cy="67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0d8a8a"/>
                </a:solidFill>
                <a:latin typeface="Calibri"/>
                <a:ea typeface="Calibri"/>
              </a:rPr>
              <a:t>Query time reduced from 8s to &lt;1s; API fully integrated with mobile app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12" name="Shape 48"/>
          <p:cNvSpPr/>
          <p:nvPr/>
        </p:nvSpPr>
        <p:spPr>
          <a:xfrm>
            <a:off x="274320" y="4937760"/>
            <a:ext cx="859356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3" name="Shape 49"/>
          <p:cNvSpPr/>
          <p:nvPr/>
        </p:nvSpPr>
        <p:spPr>
          <a:xfrm>
            <a:off x="274320" y="4956120"/>
            <a:ext cx="8593560" cy="16560"/>
          </a:xfrm>
          <a:prstGeom prst="rect">
            <a:avLst/>
          </a:prstGeom>
          <a:solidFill>
            <a:srgbClr val="0d8a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Shape 45"/>
          <p:cNvSpPr/>
          <p:nvPr/>
        </p:nvSpPr>
        <p:spPr>
          <a:xfrm>
            <a:off x="0" y="0"/>
            <a:ext cx="9142200" cy="912600"/>
          </a:xfrm>
          <a:prstGeom prst="rect">
            <a:avLst/>
          </a:prstGeom>
          <a:solidFill>
            <a:srgbClr val="1a2b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5" name="Text 24"/>
          <p:cNvSpPr/>
          <p:nvPr/>
        </p:nvSpPr>
        <p:spPr>
          <a:xfrm>
            <a:off x="365760" y="0"/>
            <a:ext cx="841068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  <a:ea typeface="Calibri"/>
              </a:rPr>
              <a:t>Weekly Work Summary</a:t>
            </a:r>
            <a:endParaRPr b="0" lang="en-IN" sz="2800" spc="-1" strike="noStrike">
              <a:latin typeface="Arial"/>
            </a:endParaRPr>
          </a:p>
        </p:txBody>
      </p:sp>
      <p:sp>
        <p:nvSpPr>
          <p:cNvPr id="216" name="Shape 46"/>
          <p:cNvSpPr/>
          <p:nvPr/>
        </p:nvSpPr>
        <p:spPr>
          <a:xfrm>
            <a:off x="0" y="0"/>
            <a:ext cx="62280" cy="912600"/>
          </a:xfrm>
          <a:prstGeom prst="rect">
            <a:avLst/>
          </a:prstGeom>
          <a:solidFill>
            <a:srgbClr val="0d8a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7" name="Shape 47"/>
          <p:cNvSpPr/>
          <p:nvPr/>
        </p:nvSpPr>
        <p:spPr>
          <a:xfrm>
            <a:off x="201240" y="1005840"/>
            <a:ext cx="2832840" cy="17172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18" name="Shape 50"/>
          <p:cNvSpPr/>
          <p:nvPr/>
        </p:nvSpPr>
        <p:spPr>
          <a:xfrm>
            <a:off x="201240" y="1005840"/>
            <a:ext cx="2832840" cy="455400"/>
          </a:xfrm>
          <a:prstGeom prst="rect">
            <a:avLst/>
          </a:prstGeom>
          <a:solidFill>
            <a:srgbClr val="1a2b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9" name="Text 56"/>
          <p:cNvSpPr/>
          <p:nvPr/>
        </p:nvSpPr>
        <p:spPr>
          <a:xfrm>
            <a:off x="311040" y="1005840"/>
            <a:ext cx="10954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Week 1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20" name="Text 57"/>
          <p:cNvSpPr/>
          <p:nvPr/>
        </p:nvSpPr>
        <p:spPr>
          <a:xfrm>
            <a:off x="1389960" y="1005840"/>
            <a:ext cx="15343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24 Nov – 3 Dec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221" name="Text 58"/>
          <p:cNvSpPr/>
          <p:nvPr/>
        </p:nvSpPr>
        <p:spPr>
          <a:xfrm>
            <a:off x="311040" y="1508760"/>
            <a:ext cx="264996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50" spc="-1" strike="noStrike">
                <a:solidFill>
                  <a:srgbClr val="1a2b5e"/>
                </a:solidFill>
                <a:latin typeface="Calibri"/>
                <a:ea typeface="Calibri"/>
              </a:rPr>
              <a:t>Fundamentals of Programming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222" name="Text 59"/>
          <p:cNvSpPr/>
          <p:nvPr/>
        </p:nvSpPr>
        <p:spPr>
          <a:xfrm>
            <a:off x="311040" y="1856160"/>
            <a:ext cx="2649960" cy="80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36454f"/>
                </a:solidFill>
                <a:latin typeface="Calibri"/>
                <a:ea typeface="Calibri"/>
              </a:rPr>
              <a:t>Mastered core concepts in C, C++, and Python — variables, loops, functions, and OOP basics. Completed assigned exercises to build a strong programming foundation.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23" name="Shape 51"/>
          <p:cNvSpPr/>
          <p:nvPr/>
        </p:nvSpPr>
        <p:spPr>
          <a:xfrm>
            <a:off x="3209400" y="1005840"/>
            <a:ext cx="2832840" cy="17172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24" name="Shape 52"/>
          <p:cNvSpPr/>
          <p:nvPr/>
        </p:nvSpPr>
        <p:spPr>
          <a:xfrm>
            <a:off x="3209400" y="1005840"/>
            <a:ext cx="2832840" cy="455400"/>
          </a:xfrm>
          <a:prstGeom prst="rect">
            <a:avLst/>
          </a:prstGeom>
          <a:solidFill>
            <a:srgbClr val="0d8a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5" name="Text 60"/>
          <p:cNvSpPr/>
          <p:nvPr/>
        </p:nvSpPr>
        <p:spPr>
          <a:xfrm>
            <a:off x="3319200" y="1005840"/>
            <a:ext cx="10954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Week 2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26" name="Text 61"/>
          <p:cNvSpPr/>
          <p:nvPr/>
        </p:nvSpPr>
        <p:spPr>
          <a:xfrm>
            <a:off x="4398120" y="1005840"/>
            <a:ext cx="15343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4 – 9 Dec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227" name="Text 62"/>
          <p:cNvSpPr/>
          <p:nvPr/>
        </p:nvSpPr>
        <p:spPr>
          <a:xfrm>
            <a:off x="3319200" y="1508760"/>
            <a:ext cx="264996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50" spc="-1" strike="noStrike">
                <a:solidFill>
                  <a:srgbClr val="0d8a8a"/>
                </a:solidFill>
                <a:latin typeface="Calibri"/>
                <a:ea typeface="Calibri"/>
              </a:rPr>
              <a:t>SQL &amp; Database Management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228" name="Text 63"/>
          <p:cNvSpPr/>
          <p:nvPr/>
        </p:nvSpPr>
        <p:spPr>
          <a:xfrm>
            <a:off x="3319200" y="1856160"/>
            <a:ext cx="2649960" cy="80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36454f"/>
                </a:solidFill>
                <a:latin typeface="Calibri"/>
                <a:ea typeface="Calibri"/>
              </a:rPr>
              <a:t>Studied relational databases and table management using pgAdmin. Practised SELECT, JOIN, GROUP BY, and subqueries on real datasets provided by the team.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29" name="Shape 53"/>
          <p:cNvSpPr/>
          <p:nvPr/>
        </p:nvSpPr>
        <p:spPr>
          <a:xfrm>
            <a:off x="6217920" y="1005840"/>
            <a:ext cx="2832840" cy="17172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30" name="Shape 54"/>
          <p:cNvSpPr/>
          <p:nvPr/>
        </p:nvSpPr>
        <p:spPr>
          <a:xfrm>
            <a:off x="6217920" y="1005840"/>
            <a:ext cx="2832840" cy="455400"/>
          </a:xfrm>
          <a:prstGeom prst="rect">
            <a:avLst/>
          </a:prstGeom>
          <a:solidFill>
            <a:srgbClr val="7b3f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1" name="Text 64"/>
          <p:cNvSpPr/>
          <p:nvPr/>
        </p:nvSpPr>
        <p:spPr>
          <a:xfrm>
            <a:off x="6327720" y="1005840"/>
            <a:ext cx="10954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Week 3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32" name="Text 65"/>
          <p:cNvSpPr/>
          <p:nvPr/>
        </p:nvSpPr>
        <p:spPr>
          <a:xfrm>
            <a:off x="7406640" y="1005840"/>
            <a:ext cx="15343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10 – 16 Dec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233" name="Text 66"/>
          <p:cNvSpPr/>
          <p:nvPr/>
        </p:nvSpPr>
        <p:spPr>
          <a:xfrm>
            <a:off x="6327720" y="1508760"/>
            <a:ext cx="264996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50" spc="-1" strike="noStrike">
                <a:solidFill>
                  <a:srgbClr val="7b3fa0"/>
                </a:solidFill>
                <a:latin typeface="Calibri"/>
                <a:ea typeface="Calibri"/>
              </a:rPr>
              <a:t>Odoo ERP Architecture &amp; Module Creation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234" name="Text 67"/>
          <p:cNvSpPr/>
          <p:nvPr/>
        </p:nvSpPr>
        <p:spPr>
          <a:xfrm>
            <a:off x="6327720" y="1856160"/>
            <a:ext cx="2649960" cy="80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36454f"/>
                </a:solidFill>
                <a:latin typeface="Calibri"/>
                <a:ea typeface="Calibri"/>
              </a:rPr>
              <a:t>Explored Odoo workflow, MVC structure, and ORM system. Created first custom module with manifest, Python model, and basic XML form/list views.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35" name="Shape 55"/>
          <p:cNvSpPr/>
          <p:nvPr/>
        </p:nvSpPr>
        <p:spPr>
          <a:xfrm>
            <a:off x="1398960" y="2926080"/>
            <a:ext cx="2919600" cy="19324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36" name="Shape 56"/>
          <p:cNvSpPr/>
          <p:nvPr/>
        </p:nvSpPr>
        <p:spPr>
          <a:xfrm>
            <a:off x="1398960" y="2926080"/>
            <a:ext cx="2919600" cy="455400"/>
          </a:xfrm>
          <a:prstGeom prst="rect">
            <a:avLst/>
          </a:prstGeom>
          <a:solidFill>
            <a:srgbClr val="c039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7" name="Text 68"/>
          <p:cNvSpPr/>
          <p:nvPr/>
        </p:nvSpPr>
        <p:spPr>
          <a:xfrm>
            <a:off x="1508760" y="2926080"/>
            <a:ext cx="10954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Week 4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38" name="Text 69"/>
          <p:cNvSpPr/>
          <p:nvPr/>
        </p:nvSpPr>
        <p:spPr>
          <a:xfrm>
            <a:off x="2587680" y="2926080"/>
            <a:ext cx="15343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17 – 23 Dec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239" name="Text 70"/>
          <p:cNvSpPr/>
          <p:nvPr/>
        </p:nvSpPr>
        <p:spPr>
          <a:xfrm>
            <a:off x="1508760" y="3429000"/>
            <a:ext cx="264996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50" spc="-1" strike="noStrike">
                <a:solidFill>
                  <a:srgbClr val="c0392b"/>
                </a:solidFill>
                <a:latin typeface="Calibri"/>
                <a:ea typeface="Calibri"/>
              </a:rPr>
              <a:t>Advanced Odoo – Business Logic &amp; Deployment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240" name="Text 71"/>
          <p:cNvSpPr/>
          <p:nvPr/>
        </p:nvSpPr>
        <p:spPr>
          <a:xfrm>
            <a:off x="1508760" y="3776400"/>
            <a:ext cx="2649960" cy="80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36454f"/>
                </a:solidFill>
                <a:latin typeface="Calibri"/>
                <a:ea typeface="Calibri"/>
              </a:rPr>
              <a:t>Built computed fields, onchange decorators, QWeb PDF reports, and integrated the Garage Management Module with Sales &amp; Inventory apps. Module deployed to staging and approved.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41" name="Shape 57"/>
          <p:cNvSpPr/>
          <p:nvPr/>
        </p:nvSpPr>
        <p:spPr>
          <a:xfrm>
            <a:off x="4407480" y="2926080"/>
            <a:ext cx="2971080" cy="19324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42" name="Shape 58"/>
          <p:cNvSpPr/>
          <p:nvPr/>
        </p:nvSpPr>
        <p:spPr>
          <a:xfrm>
            <a:off x="4407480" y="2926080"/>
            <a:ext cx="2971080" cy="455400"/>
          </a:xfrm>
          <a:prstGeom prst="rect">
            <a:avLst/>
          </a:prstGeom>
          <a:solidFill>
            <a:srgbClr val="f5a62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3" name="Text 72"/>
          <p:cNvSpPr/>
          <p:nvPr/>
        </p:nvSpPr>
        <p:spPr>
          <a:xfrm>
            <a:off x="4517280" y="2926080"/>
            <a:ext cx="10954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Week 5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44" name="Text 73"/>
          <p:cNvSpPr/>
          <p:nvPr/>
        </p:nvSpPr>
        <p:spPr>
          <a:xfrm>
            <a:off x="5596200" y="2926080"/>
            <a:ext cx="15343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alibri"/>
                <a:ea typeface="Calibri"/>
              </a:rPr>
              <a:t>23 Dec – 31 Dec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245" name="Text 74"/>
          <p:cNvSpPr/>
          <p:nvPr/>
        </p:nvSpPr>
        <p:spPr>
          <a:xfrm>
            <a:off x="4517280" y="3429000"/>
            <a:ext cx="264996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50" spc="-1" strike="noStrike">
                <a:solidFill>
                  <a:srgbClr val="f5a623"/>
                </a:solidFill>
                <a:latin typeface="Calibri"/>
                <a:ea typeface="Calibri"/>
              </a:rPr>
              <a:t>Real-time Project Tasks &amp; Teamwork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246" name="Text 75"/>
          <p:cNvSpPr/>
          <p:nvPr/>
        </p:nvSpPr>
        <p:spPr>
          <a:xfrm>
            <a:off x="4517280" y="3776400"/>
            <a:ext cx="2649960" cy="80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36454f"/>
                </a:solidFill>
                <a:latin typeface="Calibri"/>
                <a:ea typeface="Calibri"/>
              </a:rPr>
              <a:t>Contributed to live client work: developed Flask REST API endpoints, resolved API contract mismatches, and optimised a PostgreSQL report query from 8s to under 1 second using EXPLAIN ANALYZE.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Shape 0"/>
          <p:cNvSpPr/>
          <p:nvPr/>
        </p:nvSpPr>
        <p:spPr>
          <a:xfrm>
            <a:off x="0" y="0"/>
            <a:ext cx="9142200" cy="912600"/>
          </a:xfrm>
          <a:prstGeom prst="rect">
            <a:avLst/>
          </a:prstGeom>
          <a:solidFill>
            <a:srgbClr val="1a2b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8" name="Text 1"/>
          <p:cNvSpPr/>
          <p:nvPr/>
        </p:nvSpPr>
        <p:spPr>
          <a:xfrm>
            <a:off x="365760" y="0"/>
            <a:ext cx="841068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  <a:ea typeface="Calibri"/>
              </a:rPr>
              <a:t>Learning Outcomes</a:t>
            </a:r>
            <a:endParaRPr b="0" lang="en-IN" sz="2800" spc="-1" strike="noStrike">
              <a:latin typeface="Arial"/>
            </a:endParaRPr>
          </a:p>
        </p:txBody>
      </p:sp>
      <p:sp>
        <p:nvSpPr>
          <p:cNvPr id="249" name="Shape 2"/>
          <p:cNvSpPr/>
          <p:nvPr/>
        </p:nvSpPr>
        <p:spPr>
          <a:xfrm>
            <a:off x="0" y="0"/>
            <a:ext cx="62280" cy="912600"/>
          </a:xfrm>
          <a:prstGeom prst="rect">
            <a:avLst/>
          </a:prstGeom>
          <a:solidFill>
            <a:srgbClr val="0d8a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0" name="Shape 3"/>
          <p:cNvSpPr/>
          <p:nvPr/>
        </p:nvSpPr>
        <p:spPr>
          <a:xfrm>
            <a:off x="274320" y="1024200"/>
            <a:ext cx="4158720" cy="18270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51" name="Shape 4"/>
          <p:cNvSpPr/>
          <p:nvPr/>
        </p:nvSpPr>
        <p:spPr>
          <a:xfrm>
            <a:off x="274320" y="1024200"/>
            <a:ext cx="4158720" cy="418680"/>
          </a:xfrm>
          <a:prstGeom prst="rect">
            <a:avLst/>
          </a:prstGeom>
          <a:solidFill>
            <a:srgbClr val="1a2b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2" name="Text 5"/>
          <p:cNvSpPr/>
          <p:nvPr/>
        </p:nvSpPr>
        <p:spPr>
          <a:xfrm>
            <a:off x="384120" y="1024200"/>
            <a:ext cx="393012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Odoo ERP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253" name="Text 6"/>
          <p:cNvSpPr/>
          <p:nvPr/>
        </p:nvSpPr>
        <p:spPr>
          <a:xfrm>
            <a:off x="411480" y="1499760"/>
            <a:ext cx="3838680" cy="127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>
              <a:lnSpc>
                <a:spcPct val="100000"/>
              </a:lnSpc>
              <a:spcAft>
                <a:spcPts val="400"/>
              </a:spcAft>
              <a:buClr>
                <a:srgbClr val="36454f"/>
              </a:buClr>
              <a:buFont typeface="Symbol"/>
              <a:buChar char=""/>
            </a:pPr>
            <a:r>
              <a:rPr b="0" lang="en-US" sz="1200" spc="-1" strike="noStrike">
                <a:solidFill>
                  <a:srgbClr val="36454f"/>
                </a:solidFill>
                <a:latin typeface="Calibri"/>
                <a:ea typeface="Calibri"/>
              </a:rPr>
              <a:t>Full module development lifecycle</a:t>
            </a:r>
            <a:endParaRPr b="0" lang="en-IN" sz="12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400"/>
              </a:spcAft>
              <a:buClr>
                <a:srgbClr val="36454f"/>
              </a:buClr>
              <a:buFont typeface="Symbol"/>
              <a:buChar char=""/>
            </a:pPr>
            <a:r>
              <a:rPr b="0" lang="en-US" sz="1200" spc="-1" strike="noStrike">
                <a:solidFill>
                  <a:srgbClr val="36454f"/>
                </a:solidFill>
                <a:latin typeface="Calibri"/>
                <a:ea typeface="Calibri"/>
              </a:rPr>
              <a:t>Python ORM models &amp; API methods</a:t>
            </a:r>
            <a:endParaRPr b="0" lang="en-IN" sz="12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400"/>
              </a:spcAft>
              <a:buClr>
                <a:srgbClr val="36454f"/>
              </a:buClr>
              <a:buFont typeface="Symbol"/>
              <a:buChar char=""/>
            </a:pPr>
            <a:r>
              <a:rPr b="0" lang="en-US" sz="1200" spc="-1" strike="noStrike">
                <a:solidFill>
                  <a:srgbClr val="36454f"/>
                </a:solidFill>
                <a:latin typeface="Calibri"/>
                <a:ea typeface="Calibri"/>
              </a:rPr>
              <a:t>XML views &amp; QWeb reports</a:t>
            </a:r>
            <a:endParaRPr b="0" lang="en-IN" sz="12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400"/>
              </a:spcAft>
              <a:buClr>
                <a:srgbClr val="36454f"/>
              </a:buClr>
              <a:buFont typeface="Symbol"/>
              <a:buChar char=""/>
            </a:pPr>
            <a:r>
              <a:rPr b="0" lang="en-US" sz="1200" spc="-1" strike="noStrike">
                <a:solidFill>
                  <a:srgbClr val="36454f"/>
                </a:solidFill>
                <a:latin typeface="Calibri"/>
                <a:ea typeface="Calibri"/>
              </a:rPr>
              <a:t>Odoo app integration patterns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54" name="Shape 7"/>
          <p:cNvSpPr/>
          <p:nvPr/>
        </p:nvSpPr>
        <p:spPr>
          <a:xfrm>
            <a:off x="4709160" y="1024200"/>
            <a:ext cx="4158720" cy="18270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55" name="Shape 8"/>
          <p:cNvSpPr/>
          <p:nvPr/>
        </p:nvSpPr>
        <p:spPr>
          <a:xfrm>
            <a:off x="4709160" y="1024200"/>
            <a:ext cx="4158720" cy="418680"/>
          </a:xfrm>
          <a:prstGeom prst="rect">
            <a:avLst/>
          </a:prstGeom>
          <a:solidFill>
            <a:srgbClr val="0d8a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6" name="Text 9"/>
          <p:cNvSpPr/>
          <p:nvPr/>
        </p:nvSpPr>
        <p:spPr>
          <a:xfrm>
            <a:off x="4818960" y="1024200"/>
            <a:ext cx="393012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Python Backend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257" name="Text 10"/>
          <p:cNvSpPr/>
          <p:nvPr/>
        </p:nvSpPr>
        <p:spPr>
          <a:xfrm>
            <a:off x="4846320" y="1499760"/>
            <a:ext cx="3838680" cy="127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>
              <a:lnSpc>
                <a:spcPct val="100000"/>
              </a:lnSpc>
              <a:spcAft>
                <a:spcPts val="400"/>
              </a:spcAft>
              <a:buClr>
                <a:srgbClr val="36454f"/>
              </a:buClr>
              <a:buFont typeface="Symbol"/>
              <a:buChar char=""/>
            </a:pPr>
            <a:r>
              <a:rPr b="0" lang="en-US" sz="1200" spc="-1" strike="noStrike">
                <a:solidFill>
                  <a:srgbClr val="36454f"/>
                </a:solidFill>
                <a:latin typeface="Calibri"/>
                <a:ea typeface="Calibri"/>
              </a:rPr>
              <a:t>Flask REST API development</a:t>
            </a:r>
            <a:endParaRPr b="0" lang="en-IN" sz="12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400"/>
              </a:spcAft>
              <a:buClr>
                <a:srgbClr val="36454f"/>
              </a:buClr>
              <a:buFont typeface="Symbol"/>
              <a:buChar char=""/>
            </a:pPr>
            <a:r>
              <a:rPr b="0" lang="en-US" sz="1200" spc="-1" strike="noStrike">
                <a:solidFill>
                  <a:srgbClr val="36454f"/>
                </a:solidFill>
                <a:latin typeface="Calibri"/>
                <a:ea typeface="Calibri"/>
              </a:rPr>
              <a:t>OOP, decorators &amp; file I/O</a:t>
            </a:r>
            <a:endParaRPr b="0" lang="en-IN" sz="12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400"/>
              </a:spcAft>
              <a:buClr>
                <a:srgbClr val="36454f"/>
              </a:buClr>
              <a:buFont typeface="Symbol"/>
              <a:buChar char=""/>
            </a:pPr>
            <a:r>
              <a:rPr b="0" lang="en-US" sz="1200" spc="-1" strike="noStrike">
                <a:solidFill>
                  <a:srgbClr val="36454f"/>
                </a:solidFill>
                <a:latin typeface="Calibri"/>
                <a:ea typeface="Calibri"/>
              </a:rPr>
              <a:t>Postman testing &amp; documentation</a:t>
            </a:r>
            <a:endParaRPr b="0" lang="en-IN" sz="12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400"/>
              </a:spcAft>
              <a:buClr>
                <a:srgbClr val="36454f"/>
              </a:buClr>
              <a:buFont typeface="Symbol"/>
              <a:buChar char=""/>
            </a:pPr>
            <a:r>
              <a:rPr b="0" lang="en-US" sz="1200" spc="-1" strike="noStrike">
                <a:solidFill>
                  <a:srgbClr val="36454f"/>
                </a:solidFill>
                <a:latin typeface="Calibri"/>
                <a:ea typeface="Calibri"/>
              </a:rPr>
              <a:t>Data processing automation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58" name="Shape 11"/>
          <p:cNvSpPr/>
          <p:nvPr/>
        </p:nvSpPr>
        <p:spPr>
          <a:xfrm>
            <a:off x="274320" y="3035880"/>
            <a:ext cx="4158720" cy="18270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59" name="Shape 12"/>
          <p:cNvSpPr/>
          <p:nvPr/>
        </p:nvSpPr>
        <p:spPr>
          <a:xfrm>
            <a:off x="274320" y="3035880"/>
            <a:ext cx="4158720" cy="418680"/>
          </a:xfrm>
          <a:prstGeom prst="rect">
            <a:avLst/>
          </a:prstGeom>
          <a:solidFill>
            <a:srgbClr val="7b3f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0" name="Text 13"/>
          <p:cNvSpPr/>
          <p:nvPr/>
        </p:nvSpPr>
        <p:spPr>
          <a:xfrm>
            <a:off x="384120" y="3035880"/>
            <a:ext cx="393012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Tools &amp; Workflow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261" name="Text 14"/>
          <p:cNvSpPr/>
          <p:nvPr/>
        </p:nvSpPr>
        <p:spPr>
          <a:xfrm>
            <a:off x="411480" y="3511440"/>
            <a:ext cx="3838680" cy="127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>
              <a:lnSpc>
                <a:spcPct val="100000"/>
              </a:lnSpc>
              <a:spcAft>
                <a:spcPts val="400"/>
              </a:spcAft>
              <a:buClr>
                <a:srgbClr val="36454f"/>
              </a:buClr>
              <a:buFont typeface="Symbol"/>
              <a:buChar char=""/>
            </a:pPr>
            <a:r>
              <a:rPr b="0" lang="en-US" sz="1200" spc="-1" strike="noStrike">
                <a:solidFill>
                  <a:srgbClr val="36454f"/>
                </a:solidFill>
                <a:latin typeface="Calibri"/>
                <a:ea typeface="Calibri"/>
              </a:rPr>
              <a:t>Git version control &amp; branching</a:t>
            </a:r>
            <a:endParaRPr b="0" lang="en-IN" sz="12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400"/>
              </a:spcAft>
              <a:buClr>
                <a:srgbClr val="36454f"/>
              </a:buClr>
              <a:buFont typeface="Symbol"/>
              <a:buChar char=""/>
            </a:pPr>
            <a:r>
              <a:rPr b="0" lang="en-US" sz="1200" spc="-1" strike="noStrike">
                <a:solidFill>
                  <a:srgbClr val="36454f"/>
                </a:solidFill>
                <a:latin typeface="Calibri"/>
                <a:ea typeface="Calibri"/>
              </a:rPr>
              <a:t>VS Code, PyCharm, pgAdmin</a:t>
            </a:r>
            <a:endParaRPr b="0" lang="en-IN" sz="12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400"/>
              </a:spcAft>
              <a:buClr>
                <a:srgbClr val="36454f"/>
              </a:buClr>
              <a:buFont typeface="Symbol"/>
              <a:buChar char=""/>
            </a:pPr>
            <a:r>
              <a:rPr b="0" lang="en-US" sz="1200" spc="-1" strike="noStrike">
                <a:solidFill>
                  <a:srgbClr val="36454f"/>
                </a:solidFill>
                <a:latin typeface="Calibri"/>
                <a:ea typeface="Calibri"/>
              </a:rPr>
              <a:t>Postman API testing</a:t>
            </a:r>
            <a:endParaRPr b="0" lang="en-IN" sz="12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400"/>
              </a:spcAft>
              <a:buClr>
                <a:srgbClr val="36454f"/>
              </a:buClr>
              <a:buFont typeface="Symbol"/>
              <a:buChar char=""/>
            </a:pPr>
            <a:r>
              <a:rPr b="0" lang="en-US" sz="1200" spc="-1" strike="noStrike">
                <a:solidFill>
                  <a:srgbClr val="36454f"/>
                </a:solidFill>
                <a:latin typeface="Calibri"/>
                <a:ea typeface="Calibri"/>
              </a:rPr>
              <a:t>Agile sprint ceremonies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62" name="Shape 15"/>
          <p:cNvSpPr/>
          <p:nvPr/>
        </p:nvSpPr>
        <p:spPr>
          <a:xfrm>
            <a:off x="4709160" y="3035880"/>
            <a:ext cx="4158720" cy="18270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763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63" name="Shape 16"/>
          <p:cNvSpPr/>
          <p:nvPr/>
        </p:nvSpPr>
        <p:spPr>
          <a:xfrm>
            <a:off x="4709160" y="3035880"/>
            <a:ext cx="4158720" cy="418680"/>
          </a:xfrm>
          <a:prstGeom prst="rect">
            <a:avLst/>
          </a:prstGeom>
          <a:solidFill>
            <a:srgbClr val="f5a62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4" name="Text 17"/>
          <p:cNvSpPr/>
          <p:nvPr/>
        </p:nvSpPr>
        <p:spPr>
          <a:xfrm>
            <a:off x="4818960" y="3035880"/>
            <a:ext cx="3930120" cy="41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Professional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265" name="Text 18"/>
          <p:cNvSpPr/>
          <p:nvPr/>
        </p:nvSpPr>
        <p:spPr>
          <a:xfrm>
            <a:off x="4846320" y="3511440"/>
            <a:ext cx="3838680" cy="127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>
              <a:lnSpc>
                <a:spcPct val="100000"/>
              </a:lnSpc>
              <a:spcAft>
                <a:spcPts val="400"/>
              </a:spcAft>
              <a:buClr>
                <a:srgbClr val="36454f"/>
              </a:buClr>
              <a:buFont typeface="Symbol"/>
              <a:buChar char=""/>
            </a:pPr>
            <a:r>
              <a:rPr b="0" lang="en-US" sz="1200" spc="-1" strike="noStrike">
                <a:solidFill>
                  <a:srgbClr val="36454f"/>
                </a:solidFill>
                <a:latin typeface="Calibri"/>
                <a:ea typeface="Calibri"/>
              </a:rPr>
              <a:t>Agile &amp; sprint ceremonies</a:t>
            </a:r>
            <a:endParaRPr b="0" lang="en-IN" sz="12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400"/>
              </a:spcAft>
              <a:buClr>
                <a:srgbClr val="36454f"/>
              </a:buClr>
              <a:buFont typeface="Symbol"/>
              <a:buChar char=""/>
            </a:pPr>
            <a:r>
              <a:rPr b="0" lang="en-US" sz="1200" spc="-1" strike="noStrike">
                <a:solidFill>
                  <a:srgbClr val="36454f"/>
                </a:solidFill>
                <a:latin typeface="Calibri"/>
                <a:ea typeface="Calibri"/>
              </a:rPr>
              <a:t>Cross-functional collaboration</a:t>
            </a:r>
            <a:endParaRPr b="0" lang="en-IN" sz="12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400"/>
              </a:spcAft>
              <a:buClr>
                <a:srgbClr val="36454f"/>
              </a:buClr>
              <a:buFont typeface="Symbol"/>
              <a:buChar char=""/>
            </a:pPr>
            <a:r>
              <a:rPr b="0" lang="en-US" sz="1200" spc="-1" strike="noStrike">
                <a:solidFill>
                  <a:srgbClr val="36454f"/>
                </a:solidFill>
                <a:latin typeface="Calibri"/>
                <a:ea typeface="Calibri"/>
              </a:rPr>
              <a:t>Git version control</a:t>
            </a:r>
            <a:endParaRPr b="0" lang="en-IN" sz="12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400"/>
              </a:spcAft>
              <a:buClr>
                <a:srgbClr val="36454f"/>
              </a:buClr>
              <a:buFont typeface="Symbol"/>
              <a:buChar char=""/>
            </a:pPr>
            <a:r>
              <a:rPr b="0" lang="en-US" sz="1200" spc="-1" strike="noStrike">
                <a:solidFill>
                  <a:srgbClr val="36454f"/>
                </a:solidFill>
                <a:latin typeface="Calibri"/>
                <a:ea typeface="Calibri"/>
              </a:rPr>
              <a:t>Technical documentation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Shape 0"/>
          <p:cNvSpPr/>
          <p:nvPr/>
        </p:nvSpPr>
        <p:spPr>
          <a:xfrm>
            <a:off x="0" y="0"/>
            <a:ext cx="9142200" cy="912600"/>
          </a:xfrm>
          <a:prstGeom prst="rect">
            <a:avLst/>
          </a:prstGeom>
          <a:solidFill>
            <a:srgbClr val="1a2b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7" name="Text 1"/>
          <p:cNvSpPr/>
          <p:nvPr/>
        </p:nvSpPr>
        <p:spPr>
          <a:xfrm>
            <a:off x="365760" y="0"/>
            <a:ext cx="841068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  <a:ea typeface="Calibri"/>
              </a:rPr>
              <a:t>Challenges &amp; Solutions</a:t>
            </a:r>
            <a:endParaRPr b="0" lang="en-IN" sz="2800" spc="-1" strike="noStrike">
              <a:latin typeface="Arial"/>
            </a:endParaRPr>
          </a:p>
        </p:txBody>
      </p:sp>
      <p:sp>
        <p:nvSpPr>
          <p:cNvPr id="268" name="Shape 2"/>
          <p:cNvSpPr/>
          <p:nvPr/>
        </p:nvSpPr>
        <p:spPr>
          <a:xfrm>
            <a:off x="0" y="0"/>
            <a:ext cx="62280" cy="912600"/>
          </a:xfrm>
          <a:prstGeom prst="rect">
            <a:avLst/>
          </a:prstGeom>
          <a:solidFill>
            <a:srgbClr val="0d8a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9" name="Shape 3"/>
          <p:cNvSpPr/>
          <p:nvPr/>
        </p:nvSpPr>
        <p:spPr>
          <a:xfrm>
            <a:off x="274320" y="1024200"/>
            <a:ext cx="3930120" cy="656640"/>
          </a:xfrm>
          <a:prstGeom prst="rect">
            <a:avLst/>
          </a:prstGeom>
          <a:solidFill>
            <a:srgbClr val="fef3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70" name="Shape 4"/>
          <p:cNvSpPr/>
          <p:nvPr/>
        </p:nvSpPr>
        <p:spPr>
          <a:xfrm>
            <a:off x="274320" y="1024200"/>
            <a:ext cx="62280" cy="656640"/>
          </a:xfrm>
          <a:prstGeom prst="rect">
            <a:avLst/>
          </a:prstGeom>
          <a:solidFill>
            <a:srgbClr val="c039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71" name="Text 5"/>
          <p:cNvSpPr/>
          <p:nvPr/>
        </p:nvSpPr>
        <p:spPr>
          <a:xfrm>
            <a:off x="411480" y="1024200"/>
            <a:ext cx="3701520" cy="65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50" spc="-1" strike="noStrike">
                <a:solidFill>
                  <a:srgbClr val="c0392b"/>
                </a:solidFill>
                <a:latin typeface="Calibri"/>
                <a:ea typeface="Calibri"/>
              </a:rPr>
              <a:t>⚠ </a:t>
            </a:r>
            <a:r>
              <a:rPr b="1" lang="en-US" sz="1250" spc="-1" strike="noStrike">
                <a:solidFill>
                  <a:srgbClr val="c0392b"/>
                </a:solidFill>
                <a:latin typeface="Calibri"/>
                <a:ea typeface="Calibri"/>
              </a:rPr>
              <a:t>Odoo Learning Curve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272" name="Shape 6"/>
          <p:cNvSpPr/>
          <p:nvPr/>
        </p:nvSpPr>
        <p:spPr>
          <a:xfrm>
            <a:off x="4389120" y="1024200"/>
            <a:ext cx="4478760" cy="656640"/>
          </a:xfrm>
          <a:prstGeom prst="rect">
            <a:avLst/>
          </a:prstGeom>
          <a:solidFill>
            <a:srgbClr val="f0fb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73" name="Shape 7"/>
          <p:cNvSpPr/>
          <p:nvPr/>
        </p:nvSpPr>
        <p:spPr>
          <a:xfrm>
            <a:off x="4389120" y="1024200"/>
            <a:ext cx="62280" cy="656640"/>
          </a:xfrm>
          <a:prstGeom prst="rect">
            <a:avLst/>
          </a:prstGeom>
          <a:solidFill>
            <a:srgbClr val="0d8a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74" name="Text 8"/>
          <p:cNvSpPr/>
          <p:nvPr/>
        </p:nvSpPr>
        <p:spPr>
          <a:xfrm>
            <a:off x="4526280" y="1024200"/>
            <a:ext cx="4250160" cy="65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d8a8a"/>
                </a:solidFill>
                <a:latin typeface="Calibri"/>
                <a:ea typeface="Calibri"/>
              </a:rPr>
              <a:t>✔ </a:t>
            </a:r>
            <a:r>
              <a:rPr b="0" lang="en-US" sz="1200" spc="-1" strike="noStrike">
                <a:solidFill>
                  <a:srgbClr val="0d8a8a"/>
                </a:solidFill>
                <a:latin typeface="Calibri"/>
                <a:ea typeface="Calibri"/>
              </a:rPr>
              <a:t>3-pronged study: official docs + source code + mentor guidance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75" name="Shape 9"/>
          <p:cNvSpPr/>
          <p:nvPr/>
        </p:nvSpPr>
        <p:spPr>
          <a:xfrm>
            <a:off x="274320" y="1801440"/>
            <a:ext cx="3930120" cy="656640"/>
          </a:xfrm>
          <a:prstGeom prst="rect">
            <a:avLst/>
          </a:prstGeom>
          <a:solidFill>
            <a:srgbClr val="fef3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76" name="Shape 10"/>
          <p:cNvSpPr/>
          <p:nvPr/>
        </p:nvSpPr>
        <p:spPr>
          <a:xfrm>
            <a:off x="274320" y="1801440"/>
            <a:ext cx="62280" cy="656640"/>
          </a:xfrm>
          <a:prstGeom prst="rect">
            <a:avLst/>
          </a:prstGeom>
          <a:solidFill>
            <a:srgbClr val="c039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77" name="Text 11"/>
          <p:cNvSpPr/>
          <p:nvPr/>
        </p:nvSpPr>
        <p:spPr>
          <a:xfrm>
            <a:off x="411480" y="1801440"/>
            <a:ext cx="3701520" cy="65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50" spc="-1" strike="noStrike">
                <a:solidFill>
                  <a:srgbClr val="c0392b"/>
                </a:solidFill>
                <a:latin typeface="Calibri"/>
                <a:ea typeface="Calibri"/>
              </a:rPr>
              <a:t>⚠ </a:t>
            </a:r>
            <a:r>
              <a:rPr b="1" lang="en-US" sz="1250" spc="-1" strike="noStrike">
                <a:solidFill>
                  <a:srgbClr val="c0392b"/>
                </a:solidFill>
                <a:latin typeface="Calibri"/>
                <a:ea typeface="Calibri"/>
              </a:rPr>
              <a:t>Balancing 3 Domains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278" name="Shape 12"/>
          <p:cNvSpPr/>
          <p:nvPr/>
        </p:nvSpPr>
        <p:spPr>
          <a:xfrm>
            <a:off x="4389120" y="1801440"/>
            <a:ext cx="4478760" cy="656640"/>
          </a:xfrm>
          <a:prstGeom prst="rect">
            <a:avLst/>
          </a:prstGeom>
          <a:solidFill>
            <a:srgbClr val="f0fb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79" name="Shape 13"/>
          <p:cNvSpPr/>
          <p:nvPr/>
        </p:nvSpPr>
        <p:spPr>
          <a:xfrm>
            <a:off x="4389120" y="1801440"/>
            <a:ext cx="62280" cy="656640"/>
          </a:xfrm>
          <a:prstGeom prst="rect">
            <a:avLst/>
          </a:prstGeom>
          <a:solidFill>
            <a:srgbClr val="0d8a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0" name="Text 14"/>
          <p:cNvSpPr/>
          <p:nvPr/>
        </p:nvSpPr>
        <p:spPr>
          <a:xfrm>
            <a:off x="4526280" y="1801440"/>
            <a:ext cx="4250160" cy="65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d8a8a"/>
                </a:solidFill>
                <a:latin typeface="Calibri"/>
                <a:ea typeface="Calibri"/>
              </a:rPr>
              <a:t>✔ </a:t>
            </a:r>
            <a:r>
              <a:rPr b="0" lang="en-US" sz="1200" spc="-1" strike="noStrike">
                <a:solidFill>
                  <a:srgbClr val="0d8a8a"/>
                </a:solidFill>
                <a:latin typeface="Calibri"/>
                <a:ea typeface="Calibri"/>
              </a:rPr>
              <a:t>Weekly schedule: Odoo Mon–Tue, Python Wed–Thu, Mobile Fri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81" name="Shape 15"/>
          <p:cNvSpPr/>
          <p:nvPr/>
        </p:nvSpPr>
        <p:spPr>
          <a:xfrm>
            <a:off x="274320" y="2578680"/>
            <a:ext cx="3930120" cy="656640"/>
          </a:xfrm>
          <a:prstGeom prst="rect">
            <a:avLst/>
          </a:prstGeom>
          <a:solidFill>
            <a:srgbClr val="fef3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2" name="Shape 16"/>
          <p:cNvSpPr/>
          <p:nvPr/>
        </p:nvSpPr>
        <p:spPr>
          <a:xfrm>
            <a:off x="274320" y="2578680"/>
            <a:ext cx="62280" cy="656640"/>
          </a:xfrm>
          <a:prstGeom prst="rect">
            <a:avLst/>
          </a:prstGeom>
          <a:solidFill>
            <a:srgbClr val="c039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3" name="Text 17"/>
          <p:cNvSpPr/>
          <p:nvPr/>
        </p:nvSpPr>
        <p:spPr>
          <a:xfrm>
            <a:off x="411480" y="2578680"/>
            <a:ext cx="3701520" cy="65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50" spc="-1" strike="noStrike">
                <a:solidFill>
                  <a:srgbClr val="c0392b"/>
                </a:solidFill>
                <a:latin typeface="Calibri"/>
                <a:ea typeface="Calibri"/>
              </a:rPr>
              <a:t>⚠ </a:t>
            </a:r>
            <a:r>
              <a:rPr b="1" lang="en-US" sz="1250" spc="-1" strike="noStrike">
                <a:solidFill>
                  <a:srgbClr val="c0392b"/>
                </a:solidFill>
                <a:latin typeface="Calibri"/>
                <a:ea typeface="Calibri"/>
              </a:rPr>
              <a:t>Flutter State Management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284" name="Shape 18"/>
          <p:cNvSpPr/>
          <p:nvPr/>
        </p:nvSpPr>
        <p:spPr>
          <a:xfrm>
            <a:off x="4389120" y="2578680"/>
            <a:ext cx="4478760" cy="656640"/>
          </a:xfrm>
          <a:prstGeom prst="rect">
            <a:avLst/>
          </a:prstGeom>
          <a:solidFill>
            <a:srgbClr val="f0fb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5" name="Shape 19"/>
          <p:cNvSpPr/>
          <p:nvPr/>
        </p:nvSpPr>
        <p:spPr>
          <a:xfrm>
            <a:off x="4389120" y="2578680"/>
            <a:ext cx="62280" cy="656640"/>
          </a:xfrm>
          <a:prstGeom prst="rect">
            <a:avLst/>
          </a:prstGeom>
          <a:solidFill>
            <a:srgbClr val="0d8a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6" name="Text 20"/>
          <p:cNvSpPr/>
          <p:nvPr/>
        </p:nvSpPr>
        <p:spPr>
          <a:xfrm>
            <a:off x="4526280" y="2578680"/>
            <a:ext cx="4250160" cy="65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d8a8a"/>
                </a:solidFill>
                <a:latin typeface="Calibri"/>
                <a:ea typeface="Calibri"/>
              </a:rPr>
              <a:t>✔ </a:t>
            </a:r>
            <a:r>
              <a:rPr b="0" lang="en-US" sz="1200" spc="-1" strike="noStrike">
                <a:solidFill>
                  <a:srgbClr val="0d8a8a"/>
                </a:solidFill>
                <a:latin typeface="Calibri"/>
                <a:ea typeface="Calibri"/>
              </a:rPr>
              <a:t>Learned correct setState pattern within async API call lifecycle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87" name="Shape 21"/>
          <p:cNvSpPr/>
          <p:nvPr/>
        </p:nvSpPr>
        <p:spPr>
          <a:xfrm>
            <a:off x="274320" y="3355920"/>
            <a:ext cx="3930120" cy="656640"/>
          </a:xfrm>
          <a:prstGeom prst="rect">
            <a:avLst/>
          </a:prstGeom>
          <a:solidFill>
            <a:srgbClr val="fef3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8" name="Shape 22"/>
          <p:cNvSpPr/>
          <p:nvPr/>
        </p:nvSpPr>
        <p:spPr>
          <a:xfrm>
            <a:off x="274320" y="3355920"/>
            <a:ext cx="62280" cy="656640"/>
          </a:xfrm>
          <a:prstGeom prst="rect">
            <a:avLst/>
          </a:prstGeom>
          <a:solidFill>
            <a:srgbClr val="c039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9" name="Text 23"/>
          <p:cNvSpPr/>
          <p:nvPr/>
        </p:nvSpPr>
        <p:spPr>
          <a:xfrm>
            <a:off x="411480" y="3355920"/>
            <a:ext cx="3701520" cy="65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50" spc="-1" strike="noStrike">
                <a:solidFill>
                  <a:srgbClr val="c0392b"/>
                </a:solidFill>
                <a:latin typeface="Calibri"/>
                <a:ea typeface="Calibri"/>
              </a:rPr>
              <a:t>⚠ </a:t>
            </a:r>
            <a:r>
              <a:rPr b="1" lang="en-US" sz="1250" spc="-1" strike="noStrike">
                <a:solidFill>
                  <a:srgbClr val="c0392b"/>
                </a:solidFill>
                <a:latin typeface="Calibri"/>
                <a:ea typeface="Calibri"/>
              </a:rPr>
              <a:t>API Contract Mismatch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290" name="Shape 24"/>
          <p:cNvSpPr/>
          <p:nvPr/>
        </p:nvSpPr>
        <p:spPr>
          <a:xfrm>
            <a:off x="4389120" y="3355920"/>
            <a:ext cx="4478760" cy="656640"/>
          </a:xfrm>
          <a:prstGeom prst="rect">
            <a:avLst/>
          </a:prstGeom>
          <a:solidFill>
            <a:srgbClr val="f0fb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91" name="Shape 25"/>
          <p:cNvSpPr/>
          <p:nvPr/>
        </p:nvSpPr>
        <p:spPr>
          <a:xfrm>
            <a:off x="4389120" y="3355920"/>
            <a:ext cx="62280" cy="656640"/>
          </a:xfrm>
          <a:prstGeom prst="rect">
            <a:avLst/>
          </a:prstGeom>
          <a:solidFill>
            <a:srgbClr val="0d8a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92" name="Text 26"/>
          <p:cNvSpPr/>
          <p:nvPr/>
        </p:nvSpPr>
        <p:spPr>
          <a:xfrm>
            <a:off x="4526280" y="3355920"/>
            <a:ext cx="4250160" cy="65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d8a8a"/>
                </a:solidFill>
                <a:latin typeface="Calibri"/>
                <a:ea typeface="Calibri"/>
              </a:rPr>
              <a:t>✔ </a:t>
            </a:r>
            <a:r>
              <a:rPr b="0" lang="en-US" sz="1200" spc="-1" strike="noStrike">
                <a:solidFill>
                  <a:srgbClr val="0d8a8a"/>
                </a:solidFill>
                <a:latin typeface="Calibri"/>
                <a:ea typeface="Calibri"/>
              </a:rPr>
              <a:t>Audited Postman vs Flutter models; updated Flask response formatters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93" name="Shape 27"/>
          <p:cNvSpPr/>
          <p:nvPr/>
        </p:nvSpPr>
        <p:spPr>
          <a:xfrm>
            <a:off x="274320" y="4133160"/>
            <a:ext cx="3930120" cy="656640"/>
          </a:xfrm>
          <a:prstGeom prst="rect">
            <a:avLst/>
          </a:prstGeom>
          <a:solidFill>
            <a:srgbClr val="fef3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94" name="Shape 28"/>
          <p:cNvSpPr/>
          <p:nvPr/>
        </p:nvSpPr>
        <p:spPr>
          <a:xfrm>
            <a:off x="274320" y="4133160"/>
            <a:ext cx="62280" cy="656640"/>
          </a:xfrm>
          <a:prstGeom prst="rect">
            <a:avLst/>
          </a:prstGeom>
          <a:solidFill>
            <a:srgbClr val="c039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95" name="Text 29"/>
          <p:cNvSpPr/>
          <p:nvPr/>
        </p:nvSpPr>
        <p:spPr>
          <a:xfrm>
            <a:off x="411480" y="4133160"/>
            <a:ext cx="3701520" cy="65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50" spc="-1" strike="noStrike">
                <a:solidFill>
                  <a:srgbClr val="c0392b"/>
                </a:solidFill>
                <a:latin typeface="Calibri"/>
                <a:ea typeface="Calibri"/>
              </a:rPr>
              <a:t>⚠ </a:t>
            </a:r>
            <a:r>
              <a:rPr b="1" lang="en-US" sz="1250" spc="-1" strike="noStrike">
                <a:solidFill>
                  <a:srgbClr val="c0392b"/>
                </a:solidFill>
                <a:latin typeface="Calibri"/>
                <a:ea typeface="Calibri"/>
              </a:rPr>
              <a:t>PostgreSQL Query Performance (8s+)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296" name="Shape 30"/>
          <p:cNvSpPr/>
          <p:nvPr/>
        </p:nvSpPr>
        <p:spPr>
          <a:xfrm>
            <a:off x="4389120" y="4133160"/>
            <a:ext cx="4478760" cy="656640"/>
          </a:xfrm>
          <a:prstGeom prst="rect">
            <a:avLst/>
          </a:prstGeom>
          <a:solidFill>
            <a:srgbClr val="f0fb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97" name="Shape 31"/>
          <p:cNvSpPr/>
          <p:nvPr/>
        </p:nvSpPr>
        <p:spPr>
          <a:xfrm>
            <a:off x="4389120" y="4133160"/>
            <a:ext cx="62280" cy="656640"/>
          </a:xfrm>
          <a:prstGeom prst="rect">
            <a:avLst/>
          </a:prstGeom>
          <a:solidFill>
            <a:srgbClr val="0d8a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98" name="Text 32"/>
          <p:cNvSpPr/>
          <p:nvPr/>
        </p:nvSpPr>
        <p:spPr>
          <a:xfrm>
            <a:off x="4526280" y="4133160"/>
            <a:ext cx="4250160" cy="65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0d8a8a"/>
                </a:solidFill>
                <a:latin typeface="Calibri"/>
                <a:ea typeface="Calibri"/>
              </a:rPr>
              <a:t>✔ </a:t>
            </a:r>
            <a:r>
              <a:rPr b="0" lang="en-US" sz="1200" spc="-1" strike="noStrike">
                <a:solidFill>
                  <a:srgbClr val="0d8a8a"/>
                </a:solidFill>
                <a:latin typeface="Calibri"/>
                <a:ea typeface="Calibri"/>
              </a:rPr>
              <a:t>Used EXPLAIN ANALYZE; added composite indexes → &lt;1s query time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Shape 0"/>
          <p:cNvSpPr/>
          <p:nvPr/>
        </p:nvSpPr>
        <p:spPr>
          <a:xfrm>
            <a:off x="0" y="0"/>
            <a:ext cx="9142200" cy="912600"/>
          </a:xfrm>
          <a:prstGeom prst="rect">
            <a:avLst/>
          </a:prstGeom>
          <a:solidFill>
            <a:srgbClr val="1a2b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00" name="Text 1"/>
          <p:cNvSpPr/>
          <p:nvPr/>
        </p:nvSpPr>
        <p:spPr>
          <a:xfrm>
            <a:off x="365760" y="0"/>
            <a:ext cx="841068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  <a:ea typeface="Calibri"/>
              </a:rPr>
              <a:t>Conclusion</a:t>
            </a:r>
            <a:endParaRPr b="0" lang="en-IN" sz="2800" spc="-1" strike="noStrike">
              <a:latin typeface="Arial"/>
            </a:endParaRPr>
          </a:p>
        </p:txBody>
      </p:sp>
      <p:sp>
        <p:nvSpPr>
          <p:cNvPr id="301" name="Shape 2"/>
          <p:cNvSpPr/>
          <p:nvPr/>
        </p:nvSpPr>
        <p:spPr>
          <a:xfrm>
            <a:off x="0" y="0"/>
            <a:ext cx="62280" cy="912600"/>
          </a:xfrm>
          <a:prstGeom prst="rect">
            <a:avLst/>
          </a:prstGeom>
          <a:solidFill>
            <a:srgbClr val="0d8a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02" name="Text 3"/>
          <p:cNvSpPr/>
          <p:nvPr/>
        </p:nvSpPr>
        <p:spPr>
          <a:xfrm>
            <a:off x="365760" y="1024200"/>
            <a:ext cx="8410680" cy="301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>
              <a:lnSpc>
                <a:spcPct val="100000"/>
              </a:lnSpc>
              <a:spcAft>
                <a:spcPts val="400"/>
              </a:spcAft>
              <a:buClr>
                <a:srgbClr val="36454f"/>
              </a:buClr>
              <a:buFont typeface="Symbol"/>
              <a:buChar char=""/>
            </a:pPr>
            <a:r>
              <a:rPr b="0" lang="en-US" sz="1500" spc="-1" strike="noStrike">
                <a:solidFill>
                  <a:srgbClr val="36454f"/>
                </a:solidFill>
                <a:latin typeface="Calibri"/>
                <a:ea typeface="Calibri"/>
              </a:rPr>
              <a:t>Built a complete Garage Management Module in Odoo ERP – deployed and approved</a:t>
            </a:r>
            <a:endParaRPr b="0" lang="en-IN" sz="15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400"/>
              </a:spcAft>
              <a:buClr>
                <a:srgbClr val="36454f"/>
              </a:buClr>
              <a:buFont typeface="Symbol"/>
              <a:buChar char=""/>
            </a:pPr>
            <a:r>
              <a:rPr b="0" lang="en-US" sz="1500" spc="-1" strike="noStrike">
                <a:solidFill>
                  <a:srgbClr val="36454f"/>
                </a:solidFill>
                <a:latin typeface="Calibri"/>
                <a:ea typeface="Calibri"/>
              </a:rPr>
              <a:t>Developed a functional Flask REST API with full Postman-tested documentation</a:t>
            </a:r>
            <a:endParaRPr b="0" lang="en-IN" sz="15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400"/>
              </a:spcAft>
              <a:buClr>
                <a:srgbClr val="36454f"/>
              </a:buClr>
              <a:buFont typeface="Symbol"/>
              <a:buChar char=""/>
            </a:pPr>
            <a:r>
              <a:rPr b="0" lang="en-US" sz="1500" spc="-1" strike="noStrike">
                <a:solidFill>
                  <a:srgbClr val="36454f"/>
                </a:solidFill>
                <a:latin typeface="Calibri"/>
                <a:ea typeface="Calibri"/>
              </a:rPr>
              <a:t>Resolved real-world challenges: query performance, API contracts, state management</a:t>
            </a:r>
            <a:endParaRPr b="0" lang="en-IN" sz="15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400"/>
              </a:spcAft>
              <a:buClr>
                <a:srgbClr val="36454f"/>
              </a:buClr>
              <a:buFont typeface="Symbol"/>
              <a:buChar char=""/>
            </a:pPr>
            <a:r>
              <a:rPr b="0" lang="en-US" sz="1500" spc="-1" strike="noStrike">
                <a:solidFill>
                  <a:srgbClr val="36454f"/>
                </a:solidFill>
                <a:latin typeface="Calibri"/>
                <a:ea typeface="Calibri"/>
              </a:rPr>
              <a:t>Reduced a slow PostgreSQL report query from 8s to under 1 second</a:t>
            </a:r>
            <a:endParaRPr b="0" lang="en-IN" sz="15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400"/>
              </a:spcAft>
              <a:buClr>
                <a:srgbClr val="36454f"/>
              </a:buClr>
              <a:buFont typeface="Symbol"/>
              <a:buChar char=""/>
            </a:pPr>
            <a:r>
              <a:rPr b="0" lang="en-US" sz="1500" spc="-1" strike="noStrike">
                <a:solidFill>
                  <a:srgbClr val="36454f"/>
                </a:solidFill>
                <a:latin typeface="Calibri"/>
                <a:ea typeface="Calibri"/>
              </a:rPr>
              <a:t>Participated in Agile sprints, daily stand-ups, and code reviews</a:t>
            </a:r>
            <a:endParaRPr b="0" lang="en-IN" sz="15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400"/>
              </a:spcAft>
              <a:buClr>
                <a:srgbClr val="36454f"/>
              </a:buClr>
              <a:buFont typeface="Symbol"/>
              <a:buChar char=""/>
            </a:pPr>
            <a:r>
              <a:rPr b="0" lang="en-US" sz="1500" spc="-1" strike="noStrike">
                <a:solidFill>
                  <a:srgbClr val="36454f"/>
                </a:solidFill>
                <a:latin typeface="Calibri"/>
                <a:ea typeface="Calibri"/>
              </a:rPr>
              <a:t>Progressed from programming fundamentals to enterprise ERP development in 5 weeks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303" name="Shape 4"/>
          <p:cNvSpPr/>
          <p:nvPr/>
        </p:nvSpPr>
        <p:spPr>
          <a:xfrm>
            <a:off x="274320" y="4160520"/>
            <a:ext cx="8593560" cy="802800"/>
          </a:xfrm>
          <a:prstGeom prst="rect">
            <a:avLst/>
          </a:prstGeom>
          <a:solidFill>
            <a:srgbClr val="1a2b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04" name="Text 5"/>
          <p:cNvSpPr/>
          <p:nvPr/>
        </p:nvSpPr>
        <p:spPr>
          <a:xfrm>
            <a:off x="457200" y="4160520"/>
            <a:ext cx="8227800" cy="80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"This internship has been a decisive milestone in shaping my career direction. I am committed to pursuing a career in Python-based enterprise and mobile application development."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2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Shape 0"/>
          <p:cNvSpPr/>
          <p:nvPr/>
        </p:nvSpPr>
        <p:spPr>
          <a:xfrm>
            <a:off x="0" y="2286000"/>
            <a:ext cx="9142200" cy="2855880"/>
          </a:xfrm>
          <a:prstGeom prst="rect">
            <a:avLst/>
          </a:prstGeom>
          <a:solidFill>
            <a:srgbClr val="0d8a8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06" name="Shape 1"/>
          <p:cNvSpPr/>
          <p:nvPr/>
        </p:nvSpPr>
        <p:spPr>
          <a:xfrm>
            <a:off x="0" y="0"/>
            <a:ext cx="108000" cy="5141880"/>
          </a:xfrm>
          <a:prstGeom prst="rect">
            <a:avLst/>
          </a:prstGeom>
          <a:solidFill>
            <a:srgbClr val="f5a62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07" name="Text 2"/>
          <p:cNvSpPr/>
          <p:nvPr/>
        </p:nvSpPr>
        <p:spPr>
          <a:xfrm>
            <a:off x="365760" y="548640"/>
            <a:ext cx="841068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800" spc="-1" strike="noStrike">
                <a:solidFill>
                  <a:srgbClr val="ffffff"/>
                </a:solidFill>
                <a:latin typeface="Calibri"/>
                <a:ea typeface="Calibri"/>
              </a:rPr>
              <a:t>Thank You</a:t>
            </a:r>
            <a:endParaRPr b="0" lang="en-IN" sz="4800" spc="-1" strike="noStrike">
              <a:latin typeface="Arial"/>
            </a:endParaRPr>
          </a:p>
        </p:txBody>
      </p:sp>
      <p:sp>
        <p:nvSpPr>
          <p:cNvPr id="308" name="Text 3"/>
          <p:cNvSpPr/>
          <p:nvPr/>
        </p:nvSpPr>
        <p:spPr>
          <a:xfrm>
            <a:off x="365760" y="1600200"/>
            <a:ext cx="84106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500" spc="-1" strike="noStrike">
                <a:solidFill>
                  <a:srgbClr val="0fb4b4"/>
                </a:solidFill>
                <a:latin typeface="Calibri"/>
                <a:ea typeface="Calibri"/>
              </a:rPr>
              <a:t>Panchal Krish Dipakkumar  |  BCA Sem-6  |  Vivekanand College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309" name="Text 4"/>
          <p:cNvSpPr/>
          <p:nvPr/>
        </p:nvSpPr>
        <p:spPr>
          <a:xfrm>
            <a:off x="914400" y="2514600"/>
            <a:ext cx="7313400" cy="10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House of PY Technologies, Surat</a:t>
            </a:r>
            <a:endParaRPr b="0" lang="en-IN" sz="14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www.houseofpy.com  |  houseofpy.it@gmail.com  |  +91 87589 72670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310" name="Text 5"/>
          <p:cNvSpPr/>
          <p:nvPr/>
        </p:nvSpPr>
        <p:spPr>
          <a:xfrm>
            <a:off x="914400" y="3749040"/>
            <a:ext cx="73134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d0e8f0"/>
                </a:solidFill>
                <a:latin typeface="Calibri"/>
                <a:ea typeface="Calibri"/>
              </a:rPr>
              <a:t>Supervised by: Kavin Patel, Co-Founder &amp; Senior Developer</a:t>
            </a:r>
            <a:endParaRPr b="0" lang="en-IN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145</TotalTime>
  <Application>LibreOffice/7.3.7.2$Linux_X86_64 LibreOffice_project/30$Build-2</Application>
  <AppVersion>15.0000</AppVersion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2026-03-31T10:43:42Z</dcterms:created>
  <dc:creator>PptxGenJS</dc:creator>
  <dc:description/>
  <dc:language>en-IN</dc:language>
  <cp:lastModifiedBy/>
  <dcterms:modified xsi:type="dcterms:W3CDTF">2026-04-02T09:40:00Z</dcterms:modified>
  <cp:revision>12</cp:revision>
  <dc:subject>PptxGenJS Presentation</dc:subject>
  <dc:title>Internship Report – House of PY Technologies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11</vt:i4>
  </property>
  <property fmtid="{D5CDD505-2E9C-101B-9397-08002B2CF9AE}" pid="3" name="PresentationFormat">
    <vt:lpwstr>On-screen Show (16:9)</vt:lpwstr>
  </property>
  <property fmtid="{D5CDD505-2E9C-101B-9397-08002B2CF9AE}" pid="4" name="Slides">
    <vt:i4>11</vt:i4>
  </property>
</Properties>
</file>