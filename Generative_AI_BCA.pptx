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0.png" ContentType="image/png"/>
  <Override PartName="/ppt/media/image39.png" ContentType="image/png"/>
  <Override PartName="/ppt/media/image20.png" ContentType="image/png"/>
  <Override PartName="/ppt/media/image57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24.png" ContentType="image/png"/>
  <Override PartName="/ppt/media/image61.png" ContentType="image/png"/>
  <Override PartName="/ppt/media/image14.png" ContentType="image/png"/>
  <Override PartName="/ppt/media/image2.png" ContentType="image/png"/>
  <Override PartName="/ppt/media/image69.png" ContentType="image/png"/>
  <Override PartName="/ppt/media/image32.png" ContentType="image/png"/>
  <Override PartName="/ppt/media/image25.png" ContentType="image/png"/>
  <Override PartName="/ppt/media/image62.png" ContentType="image/png"/>
  <Override PartName="/ppt/media/image75.png" ContentType="image/png"/>
  <Override PartName="/ppt/media/image63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71.png" ContentType="image/png"/>
  <Override PartName="/ppt/media/image29.png" ContentType="image/png"/>
  <Override PartName="/ppt/media/image70.png" ContentType="image/png"/>
  <Override PartName="/ppt/media/image28.png" ContentType="image/png"/>
  <Override PartName="/ppt/media/image68.png" ContentType="image/png"/>
  <Override PartName="/ppt/media/image31.png" ContentType="image/png"/>
  <Override PartName="/ppt/media/image67.png" ContentType="image/png"/>
  <Override PartName="/ppt/media/image66.png" ContentType="image/png"/>
  <Override PartName="/ppt/media/image65.png" ContentType="image/png"/>
  <Override PartName="/ppt/media/image64.png" ContentType="image/png"/>
  <Override PartName="/ppt/media/image26.png" ContentType="image/png"/>
  <Override PartName="/ppt/media/image15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16.png" ContentType="image/png"/>
  <Override PartName="/ppt/media/image4.png" ContentType="image/png"/>
  <Override PartName="/ppt/media/image34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EA520DB-8F7E-4B1D-BC59-843DEA2EB6E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109436-C5BD-43AE-ACE5-99F1BDAD1E2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C09B53-8C8B-42C2-B96C-806506AC6B2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D40CF2-3A5E-4064-A9FE-93F0D0BC6E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0C313A-5065-4830-843C-D6A693EEFB8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89E5A0-FDD3-4249-A2B5-0B787BC10D1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5781E8-F29E-48FB-88FE-C7A4AC09D0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9C963C-83A6-4642-8217-93C94FDD91D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03CCEF-CE6F-4A22-B7F9-8743977EF97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7B93D09-FCC8-44FD-A18D-FCAE4BFFD6A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7A4DEF-D5C7-48D4-AF9A-A74586A0C1E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BF4EB1-7732-4380-93E4-D16865B404E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366E5C-661D-4C3E-AF75-8EBF5F3E98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E68E88-20E7-4807-97A2-49F2B7FF489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F83D48-530A-4E0A-945E-8C05D81D9D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2D122D-F96E-4350-8C5B-434312BAAFF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62E8C5-848C-4177-B3F5-DDA06150116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5669280" y="-1645920"/>
            <a:ext cx="5028120" cy="502812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-1371600" y="2011680"/>
            <a:ext cx="4113720" cy="411372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0" y="0"/>
            <a:ext cx="9142920" cy="2520"/>
          </a:xfrm>
          <a:prstGeom prst="rect">
            <a:avLst/>
          </a:prstGeom>
          <a:solidFill>
            <a:srgbClr val="1e1e50">
              <a:alpha val="60000"/>
            </a:srgbClr>
          </a:solidFill>
          <a:ln w="12700">
            <a:solidFill>
              <a:srgbClr val="1e1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731520"/>
            <a:ext cx="9142920" cy="2520"/>
          </a:xfrm>
          <a:prstGeom prst="rect">
            <a:avLst/>
          </a:prstGeom>
          <a:solidFill>
            <a:srgbClr val="1e1e50">
              <a:alpha val="60000"/>
            </a:srgbClr>
          </a:solidFill>
          <a:ln w="12700">
            <a:solidFill>
              <a:srgbClr val="1e1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0" y="1463040"/>
            <a:ext cx="9142920" cy="2520"/>
          </a:xfrm>
          <a:prstGeom prst="rect">
            <a:avLst/>
          </a:prstGeom>
          <a:solidFill>
            <a:srgbClr val="1e1e50">
              <a:alpha val="60000"/>
            </a:srgbClr>
          </a:solidFill>
          <a:ln w="12700">
            <a:solidFill>
              <a:srgbClr val="1e1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0" y="2194560"/>
            <a:ext cx="9142920" cy="2520"/>
          </a:xfrm>
          <a:prstGeom prst="rect">
            <a:avLst/>
          </a:prstGeom>
          <a:solidFill>
            <a:srgbClr val="1e1e50">
              <a:alpha val="60000"/>
            </a:srgbClr>
          </a:solidFill>
          <a:ln w="12700">
            <a:solidFill>
              <a:srgbClr val="1e1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Shape 6"/>
          <p:cNvSpPr/>
          <p:nvPr/>
        </p:nvSpPr>
        <p:spPr>
          <a:xfrm>
            <a:off x="0" y="2926080"/>
            <a:ext cx="9142920" cy="2520"/>
          </a:xfrm>
          <a:prstGeom prst="rect">
            <a:avLst/>
          </a:prstGeom>
          <a:solidFill>
            <a:srgbClr val="1e1e50">
              <a:alpha val="60000"/>
            </a:srgbClr>
          </a:solidFill>
          <a:ln w="12700">
            <a:solidFill>
              <a:srgbClr val="1e1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Shape 7"/>
          <p:cNvSpPr/>
          <p:nvPr/>
        </p:nvSpPr>
        <p:spPr>
          <a:xfrm>
            <a:off x="0" y="3657600"/>
            <a:ext cx="9142920" cy="2520"/>
          </a:xfrm>
          <a:prstGeom prst="rect">
            <a:avLst/>
          </a:prstGeom>
          <a:solidFill>
            <a:srgbClr val="1e1e50">
              <a:alpha val="60000"/>
            </a:srgbClr>
          </a:solidFill>
          <a:ln w="12700">
            <a:solidFill>
              <a:srgbClr val="1e1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0" y="4389120"/>
            <a:ext cx="9142920" cy="2520"/>
          </a:xfrm>
          <a:prstGeom prst="rect">
            <a:avLst/>
          </a:prstGeom>
          <a:solidFill>
            <a:srgbClr val="1e1e50">
              <a:alpha val="60000"/>
            </a:srgbClr>
          </a:solidFill>
          <a:ln w="12700">
            <a:solidFill>
              <a:srgbClr val="1e1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3" name="Image 0" descr="preencoded.png"/>
          <p:cNvPicPr/>
          <p:nvPr/>
        </p:nvPicPr>
        <p:blipFill>
          <a:blip r:embed="rId1"/>
          <a:stretch/>
        </p:blipFill>
        <p:spPr>
          <a:xfrm>
            <a:off x="7117200" y="4118400"/>
            <a:ext cx="802800" cy="802800"/>
          </a:xfrm>
          <a:prstGeom prst="rect">
            <a:avLst/>
          </a:prstGeom>
          <a:ln w="0">
            <a:noFill/>
          </a:ln>
        </p:spPr>
      </p:pic>
      <p:pic>
        <p:nvPicPr>
          <p:cNvPr id="54" name="Image 1" descr="preencoded.png"/>
          <p:cNvPicPr/>
          <p:nvPr/>
        </p:nvPicPr>
        <p:blipFill>
          <a:blip r:embed="rId2"/>
          <a:stretch/>
        </p:blipFill>
        <p:spPr>
          <a:xfrm>
            <a:off x="8172000" y="4175280"/>
            <a:ext cx="720000" cy="720000"/>
          </a:xfrm>
          <a:prstGeom prst="rect">
            <a:avLst/>
          </a:prstGeom>
          <a:ln w="0">
            <a:noFill/>
          </a:ln>
        </p:spPr>
      </p:pic>
      <p:sp>
        <p:nvSpPr>
          <p:cNvPr id="55" name="Text 9"/>
          <p:cNvSpPr/>
          <p:nvPr/>
        </p:nvSpPr>
        <p:spPr>
          <a:xfrm>
            <a:off x="365760" y="2148840"/>
            <a:ext cx="73141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293" strike="noStrike">
                <a:solidFill>
                  <a:srgbClr val="ffffff"/>
                </a:solidFill>
                <a:latin typeface="Arial Black"/>
                <a:ea typeface="Arial Black"/>
              </a:rPr>
              <a:t>GENERATIVE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365760" y="2834640"/>
            <a:ext cx="7314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194" strike="noStrike">
                <a:solidFill>
                  <a:srgbClr val="10b981"/>
                </a:solidFill>
                <a:latin typeface="Arial Black"/>
                <a:ea typeface="Arial Black"/>
              </a:rPr>
              <a:t>ARTIFICIAL INTELLIGENCE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7" name="Shape 11"/>
          <p:cNvSpPr/>
          <p:nvPr/>
        </p:nvSpPr>
        <p:spPr>
          <a:xfrm>
            <a:off x="365760" y="3401640"/>
            <a:ext cx="5942520" cy="53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2"/>
          <p:cNvSpPr/>
          <p:nvPr/>
        </p:nvSpPr>
        <p:spPr>
          <a:xfrm>
            <a:off x="365760" y="3520440"/>
            <a:ext cx="63997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22d3ee"/>
                </a:solidFill>
                <a:latin typeface="Calibri"/>
                <a:ea typeface="Calibri"/>
              </a:rPr>
              <a:t>Creating the Future with AI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365760" y="4069080"/>
            <a:ext cx="5485320" cy="776160"/>
          </a:xfrm>
          <a:prstGeom prst="rect">
            <a:avLst/>
          </a:prstGeom>
          <a:solidFill>
            <a:srgbClr val="1212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14"/>
          <p:cNvSpPr/>
          <p:nvPr/>
        </p:nvSpPr>
        <p:spPr>
          <a:xfrm>
            <a:off x="502920" y="4206240"/>
            <a:ext cx="52110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Calibri"/>
              </a:rPr>
              <a:t>Name: Panchal Krish D.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 |  </a:t>
            </a: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Calibri"/>
              </a:rPr>
              <a:t>Exam no: 9553 |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6949440" y="1280160"/>
            <a:ext cx="1919160" cy="2650680"/>
          </a:xfrm>
          <a:prstGeom prst="rect">
            <a:avLst/>
          </a:prstGeom>
          <a:solidFill>
            <a:srgbClr val="0f0f28"/>
          </a:solidFill>
          <a:ln w="1905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6"/>
          <p:cNvSpPr/>
          <p:nvPr/>
        </p:nvSpPr>
        <p:spPr>
          <a:xfrm>
            <a:off x="6995160" y="1371600"/>
            <a:ext cx="17362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🤖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6995160" y="2377440"/>
            <a:ext cx="173628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92" strike="noStrike">
                <a:solidFill>
                  <a:srgbClr val="10b981"/>
                </a:solidFill>
                <a:latin typeface="Calibri"/>
                <a:ea typeface="DejaVu Sans"/>
              </a:rPr>
              <a:t>GENERATE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92" strike="noStrike">
                <a:solidFill>
                  <a:srgbClr val="10b981"/>
                </a:solidFill>
                <a:latin typeface="Calibri"/>
                <a:ea typeface="DejaVu Sans"/>
              </a:rPr>
              <a:t>CREATE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92" strike="noStrike">
                <a:solidFill>
                  <a:srgbClr val="10b981"/>
                </a:solidFill>
                <a:latin typeface="Calibri"/>
                <a:ea typeface="DejaVu Sans"/>
              </a:rPr>
              <a:t>INNOVATE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Shape 44"/>
          <p:cNvSpPr/>
          <p:nvPr/>
        </p:nvSpPr>
        <p:spPr>
          <a:xfrm>
            <a:off x="365760" y="197640"/>
            <a:ext cx="5942520" cy="1602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5" name="Picture 7" descr=""/>
          <p:cNvPicPr/>
          <p:nvPr/>
        </p:nvPicPr>
        <p:blipFill>
          <a:blip r:embed="rId3"/>
          <a:stretch/>
        </p:blipFill>
        <p:spPr>
          <a:xfrm>
            <a:off x="216000" y="142560"/>
            <a:ext cx="6128280" cy="16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Introduction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365760" y="713160"/>
            <a:ext cx="109620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3"/>
          <p:cNvSpPr/>
          <p:nvPr/>
        </p:nvSpPr>
        <p:spPr>
          <a:xfrm>
            <a:off x="320040" y="868680"/>
            <a:ext cx="2742120" cy="132480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70" name="Image 0" descr="preencoded.png"/>
          <p:cNvPicPr/>
          <p:nvPr/>
        </p:nvPicPr>
        <p:blipFill>
          <a:blip r:embed="rId1"/>
          <a:stretch/>
        </p:blipFill>
        <p:spPr>
          <a:xfrm>
            <a:off x="457200" y="9601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71" name="Text 4"/>
          <p:cNvSpPr/>
          <p:nvPr/>
        </p:nvSpPr>
        <p:spPr>
          <a:xfrm>
            <a:off x="1005840" y="89604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0b981"/>
                </a:solidFill>
                <a:latin typeface="Arial Black"/>
                <a:ea typeface="Arial Black"/>
              </a:rPr>
              <a:t>$1.3T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411480" y="1481400"/>
            <a:ext cx="2513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AI Market by 2030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3264480" y="868680"/>
            <a:ext cx="2742120" cy="132480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74" name="Image 1" descr="preencoded.png"/>
          <p:cNvPicPr/>
          <p:nvPr/>
        </p:nvPicPr>
        <p:blipFill>
          <a:blip r:embed="rId2"/>
          <a:stretch/>
        </p:blipFill>
        <p:spPr>
          <a:xfrm>
            <a:off x="3401640" y="9601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75" name="Text 7"/>
          <p:cNvSpPr/>
          <p:nvPr/>
        </p:nvSpPr>
        <p:spPr>
          <a:xfrm>
            <a:off x="3950280" y="89604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0b981"/>
                </a:solidFill>
                <a:latin typeface="Arial Black"/>
                <a:ea typeface="Arial Black"/>
              </a:rPr>
              <a:t>77%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3355920" y="1481400"/>
            <a:ext cx="2513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Enterprises use AI in 2024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6208920" y="868680"/>
            <a:ext cx="2742120" cy="132480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78" name="Image 2" descr="preencoded.png"/>
          <p:cNvPicPr/>
          <p:nvPr/>
        </p:nvPicPr>
        <p:blipFill>
          <a:blip r:embed="rId3"/>
          <a:stretch/>
        </p:blipFill>
        <p:spPr>
          <a:xfrm>
            <a:off x="6346080" y="9601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79" name="Text 10"/>
          <p:cNvSpPr/>
          <p:nvPr/>
        </p:nvSpPr>
        <p:spPr>
          <a:xfrm>
            <a:off x="6894720" y="896040"/>
            <a:ext cx="19191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10b981"/>
                </a:solidFill>
                <a:latin typeface="Arial Black"/>
                <a:ea typeface="Arial Black"/>
              </a:rPr>
              <a:t>200M+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6300360" y="1481400"/>
            <a:ext cx="2513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ChatGPT Users Worldwide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320040" y="2359080"/>
            <a:ext cx="4113720" cy="246780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Text 13"/>
          <p:cNvSpPr/>
          <p:nvPr/>
        </p:nvSpPr>
        <p:spPr>
          <a:xfrm>
            <a:off x="457200" y="245052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Calibri"/>
                <a:ea typeface="DejaVu Sans"/>
              </a:rPr>
              <a:t>The AI Revolution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457200" y="2834640"/>
            <a:ext cx="383940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AI is transforming every industry globally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Generative AI creates new, original content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Surpassing human-level tasks in many domains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Fastest-adopted technology in human history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Shape 15"/>
          <p:cNvSpPr/>
          <p:nvPr/>
        </p:nvSpPr>
        <p:spPr>
          <a:xfrm>
            <a:off x="4709160" y="2359080"/>
            <a:ext cx="4113720" cy="246780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Text 16"/>
          <p:cNvSpPr/>
          <p:nvPr/>
        </p:nvSpPr>
        <p:spPr>
          <a:xfrm>
            <a:off x="4846320" y="2450520"/>
            <a:ext cx="3839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d3ee"/>
                </a:solidFill>
                <a:latin typeface="Calibri"/>
                <a:ea typeface="DejaVu Sans"/>
              </a:rPr>
              <a:t>Why Generative AI Matters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4846320" y="2834640"/>
            <a:ext cx="383940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Automates complex creative and technical tasks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Democratises content creation for everyone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Powers tools like ChatGPT, DALL-E, Gemini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Reshaping education, healthcare, business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What is Generative AI?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365760" y="713160"/>
            <a:ext cx="164484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3"/>
          <p:cNvSpPr/>
          <p:nvPr/>
        </p:nvSpPr>
        <p:spPr>
          <a:xfrm>
            <a:off x="320040" y="868680"/>
            <a:ext cx="8502840" cy="1050480"/>
          </a:xfrm>
          <a:prstGeom prst="rect">
            <a:avLst/>
          </a:prstGeom>
          <a:solidFill>
            <a:srgbClr val="0f0f28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1" name="Image 0" descr="preencoded.png"/>
          <p:cNvPicPr/>
          <p:nvPr/>
        </p:nvPicPr>
        <p:blipFill>
          <a:blip r:embed="rId1"/>
          <a:stretch/>
        </p:blipFill>
        <p:spPr>
          <a:xfrm>
            <a:off x="457200" y="987480"/>
            <a:ext cx="593280" cy="593280"/>
          </a:xfrm>
          <a:prstGeom prst="rect">
            <a:avLst/>
          </a:prstGeom>
          <a:ln w="0">
            <a:noFill/>
          </a:ln>
        </p:spPr>
      </p:pic>
      <p:sp>
        <p:nvSpPr>
          <p:cNvPr id="92" name="Text 4"/>
          <p:cNvSpPr/>
          <p:nvPr/>
        </p:nvSpPr>
        <p:spPr>
          <a:xfrm>
            <a:off x="1188720" y="914400"/>
            <a:ext cx="7497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Generative AI is a category of artificial intelligence that uses deep learning models trained on large datasets to generate new, original content — including text, images, audio, video, and code — that did not exist before.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320040" y="2057400"/>
            <a:ext cx="2742120" cy="187344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Shape 6"/>
          <p:cNvSpPr/>
          <p:nvPr/>
        </p:nvSpPr>
        <p:spPr>
          <a:xfrm>
            <a:off x="320040" y="2057400"/>
            <a:ext cx="2742120" cy="346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7"/>
          <p:cNvSpPr/>
          <p:nvPr/>
        </p:nvSpPr>
        <p:spPr>
          <a:xfrm>
            <a:off x="320040" y="205740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0612"/>
                </a:solidFill>
                <a:latin typeface="Calibri"/>
                <a:ea typeface="DejaVu San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704160" y="2057400"/>
            <a:ext cx="2284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c0c22"/>
                </a:solidFill>
                <a:latin typeface="Calibri"/>
                <a:ea typeface="DejaVu Sans"/>
              </a:rPr>
              <a:t>Learn Patterns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97" name="Image 1" descr="preencoded.png"/>
          <p:cNvPicPr/>
          <p:nvPr/>
        </p:nvPicPr>
        <p:blipFill>
          <a:blip r:embed="rId2"/>
          <a:stretch/>
        </p:blipFill>
        <p:spPr>
          <a:xfrm>
            <a:off x="1417320" y="24962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98" name="Text 9"/>
          <p:cNvSpPr/>
          <p:nvPr/>
        </p:nvSpPr>
        <p:spPr>
          <a:xfrm>
            <a:off x="411480" y="3108960"/>
            <a:ext cx="2559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Trained on massive datasets to understand structure, style, and context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3264480" y="2057400"/>
            <a:ext cx="2742120" cy="18734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Shape 11"/>
          <p:cNvSpPr/>
          <p:nvPr/>
        </p:nvSpPr>
        <p:spPr>
          <a:xfrm>
            <a:off x="3264480" y="2057400"/>
            <a:ext cx="2742120" cy="346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12"/>
          <p:cNvSpPr/>
          <p:nvPr/>
        </p:nvSpPr>
        <p:spPr>
          <a:xfrm>
            <a:off x="3264480" y="205740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0612"/>
                </a:solidFill>
                <a:latin typeface="Calibri"/>
                <a:ea typeface="DejaVu San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3648600" y="2057400"/>
            <a:ext cx="2284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c0c22"/>
                </a:solidFill>
                <a:latin typeface="Calibri"/>
                <a:ea typeface="DejaVu Sans"/>
              </a:rPr>
              <a:t>Generate Content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03" name="Image 2" descr="preencoded.png"/>
          <p:cNvPicPr/>
          <p:nvPr/>
        </p:nvPicPr>
        <p:blipFill>
          <a:blip r:embed="rId3"/>
          <a:stretch/>
        </p:blipFill>
        <p:spPr>
          <a:xfrm>
            <a:off x="4361760" y="24962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104" name="Text 14"/>
          <p:cNvSpPr/>
          <p:nvPr/>
        </p:nvSpPr>
        <p:spPr>
          <a:xfrm>
            <a:off x="3355920" y="3108960"/>
            <a:ext cx="2559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Produces new outputs — text, images, audio, video, code — on demand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6208920" y="2057400"/>
            <a:ext cx="2742120" cy="187344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Shape 16"/>
          <p:cNvSpPr/>
          <p:nvPr/>
        </p:nvSpPr>
        <p:spPr>
          <a:xfrm>
            <a:off x="6208920" y="2057400"/>
            <a:ext cx="2742120" cy="346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7"/>
          <p:cNvSpPr/>
          <p:nvPr/>
        </p:nvSpPr>
        <p:spPr>
          <a:xfrm>
            <a:off x="6208920" y="205740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0612"/>
                </a:solidFill>
                <a:latin typeface="Calibri"/>
                <a:ea typeface="DejaVu San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6592680" y="2057400"/>
            <a:ext cx="2284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c0c22"/>
                </a:solidFill>
                <a:latin typeface="Calibri"/>
                <a:ea typeface="DejaVu Sans"/>
              </a:rPr>
              <a:t>Adapt &amp; Improve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09" name="Image 3" descr="preencoded.png"/>
          <p:cNvPicPr/>
          <p:nvPr/>
        </p:nvPicPr>
        <p:blipFill>
          <a:blip r:embed="rId4"/>
          <a:stretch/>
        </p:blipFill>
        <p:spPr>
          <a:xfrm>
            <a:off x="7306200" y="2496240"/>
            <a:ext cx="547560" cy="547560"/>
          </a:xfrm>
          <a:prstGeom prst="rect">
            <a:avLst/>
          </a:prstGeom>
          <a:ln w="0">
            <a:noFill/>
          </a:ln>
        </p:spPr>
      </p:pic>
      <p:sp>
        <p:nvSpPr>
          <p:cNvPr id="110" name="Text 19"/>
          <p:cNvSpPr/>
          <p:nvPr/>
        </p:nvSpPr>
        <p:spPr>
          <a:xfrm>
            <a:off x="6300360" y="3108960"/>
            <a:ext cx="2559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Fine-tuned via feedback (RLHF) to align with human preferences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20"/>
          <p:cNvSpPr/>
          <p:nvPr/>
        </p:nvSpPr>
        <p:spPr>
          <a:xfrm>
            <a:off x="320040" y="4096440"/>
            <a:ext cx="8502840" cy="712080"/>
          </a:xfrm>
          <a:prstGeom prst="rect">
            <a:avLst/>
          </a:prstGeom>
          <a:solidFill>
            <a:srgbClr val="12122e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1"/>
          <p:cNvSpPr/>
          <p:nvPr/>
        </p:nvSpPr>
        <p:spPr>
          <a:xfrm>
            <a:off x="457200" y="4233600"/>
            <a:ext cx="8228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2d3ee"/>
                </a:solidFill>
                <a:latin typeface="Calibri"/>
                <a:ea typeface="DejaVu Sans"/>
              </a:rPr>
              <a:t>Key difference from traditional AI: Generative AI creates new data  ·  Traditional AI classifies or predicts from existing data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History of Generative AI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365760" y="713160"/>
            <a:ext cx="173628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6" name="Image 0" descr="preencoded.png"/>
          <p:cNvPicPr/>
          <p:nvPr/>
        </p:nvPicPr>
        <p:blipFill>
          <a:blip r:embed="rId1"/>
          <a:stretch/>
        </p:blipFill>
        <p:spPr>
          <a:xfrm>
            <a:off x="8321040" y="9144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117" name="Shape 3"/>
          <p:cNvSpPr/>
          <p:nvPr/>
        </p:nvSpPr>
        <p:spPr>
          <a:xfrm>
            <a:off x="320040" y="887040"/>
            <a:ext cx="1004760" cy="47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4"/>
          <p:cNvSpPr/>
          <p:nvPr/>
        </p:nvSpPr>
        <p:spPr>
          <a:xfrm>
            <a:off x="320040" y="887040"/>
            <a:ext cx="1004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1950s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9" name="Shape 5"/>
          <p:cNvSpPr/>
          <p:nvPr/>
        </p:nvSpPr>
        <p:spPr>
          <a:xfrm>
            <a:off x="1325880" y="1097280"/>
            <a:ext cx="254880" cy="44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Shape 6"/>
          <p:cNvSpPr/>
          <p:nvPr/>
        </p:nvSpPr>
        <p:spPr>
          <a:xfrm>
            <a:off x="1645920" y="887040"/>
            <a:ext cx="7176960" cy="5018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Text 7"/>
          <p:cNvSpPr/>
          <p:nvPr/>
        </p:nvSpPr>
        <p:spPr>
          <a:xfrm>
            <a:off x="1828800" y="932760"/>
            <a:ext cx="6856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Alan Turing proposes the Turing Test; McCulloch &amp; Pitts introduce the first artificial neuron model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2" name="Shape 8"/>
          <p:cNvSpPr/>
          <p:nvPr/>
        </p:nvSpPr>
        <p:spPr>
          <a:xfrm>
            <a:off x="320040" y="1591200"/>
            <a:ext cx="1004760" cy="47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9"/>
          <p:cNvSpPr/>
          <p:nvPr/>
        </p:nvSpPr>
        <p:spPr>
          <a:xfrm>
            <a:off x="320040" y="1591200"/>
            <a:ext cx="1004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1986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1325880" y="1801440"/>
            <a:ext cx="254880" cy="44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11"/>
          <p:cNvSpPr/>
          <p:nvPr/>
        </p:nvSpPr>
        <p:spPr>
          <a:xfrm>
            <a:off x="1645920" y="1591200"/>
            <a:ext cx="7176960" cy="5018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Text 12"/>
          <p:cNvSpPr/>
          <p:nvPr/>
        </p:nvSpPr>
        <p:spPr>
          <a:xfrm>
            <a:off x="1828800" y="1636920"/>
            <a:ext cx="6856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Backpropagation algorithm enables deep neural network training (Rumelhart, Hinton &amp; Williams)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7" name="Shape 13"/>
          <p:cNvSpPr/>
          <p:nvPr/>
        </p:nvSpPr>
        <p:spPr>
          <a:xfrm>
            <a:off x="320040" y="2295000"/>
            <a:ext cx="1004760" cy="47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4"/>
          <p:cNvSpPr/>
          <p:nvPr/>
        </p:nvSpPr>
        <p:spPr>
          <a:xfrm>
            <a:off x="320040" y="2295000"/>
            <a:ext cx="1004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2014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Shape 15"/>
          <p:cNvSpPr/>
          <p:nvPr/>
        </p:nvSpPr>
        <p:spPr>
          <a:xfrm>
            <a:off x="1325880" y="2505600"/>
            <a:ext cx="254880" cy="44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16"/>
          <p:cNvSpPr/>
          <p:nvPr/>
        </p:nvSpPr>
        <p:spPr>
          <a:xfrm>
            <a:off x="1645920" y="2295000"/>
            <a:ext cx="7176960" cy="5018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Text 17"/>
          <p:cNvSpPr/>
          <p:nvPr/>
        </p:nvSpPr>
        <p:spPr>
          <a:xfrm>
            <a:off x="1828800" y="2340720"/>
            <a:ext cx="6856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Generative Adversarial Networks (GANs) invented by Ian Goodfellow — milestone in AI-generated imagery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2" name="Shape 18"/>
          <p:cNvSpPr/>
          <p:nvPr/>
        </p:nvSpPr>
        <p:spPr>
          <a:xfrm>
            <a:off x="320040" y="2999160"/>
            <a:ext cx="1004760" cy="47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9"/>
          <p:cNvSpPr/>
          <p:nvPr/>
        </p:nvSpPr>
        <p:spPr>
          <a:xfrm>
            <a:off x="320040" y="2999160"/>
            <a:ext cx="1004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2017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4" name="Shape 20"/>
          <p:cNvSpPr/>
          <p:nvPr/>
        </p:nvSpPr>
        <p:spPr>
          <a:xfrm>
            <a:off x="1325880" y="3209400"/>
            <a:ext cx="254880" cy="44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21"/>
          <p:cNvSpPr/>
          <p:nvPr/>
        </p:nvSpPr>
        <p:spPr>
          <a:xfrm>
            <a:off x="1645920" y="2999160"/>
            <a:ext cx="7176960" cy="5018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Text 22"/>
          <p:cNvSpPr/>
          <p:nvPr/>
        </p:nvSpPr>
        <p:spPr>
          <a:xfrm>
            <a:off x="1828800" y="3044880"/>
            <a:ext cx="6856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Google introduces the Transformer architecture ('Attention Is All You Need') — foundation of modern LLMs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Shape 23"/>
          <p:cNvSpPr/>
          <p:nvPr/>
        </p:nvSpPr>
        <p:spPr>
          <a:xfrm>
            <a:off x="320040" y="3703320"/>
            <a:ext cx="1004760" cy="47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24"/>
          <p:cNvSpPr/>
          <p:nvPr/>
        </p:nvSpPr>
        <p:spPr>
          <a:xfrm>
            <a:off x="320040" y="3703320"/>
            <a:ext cx="1004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2020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Shape 25"/>
          <p:cNvSpPr/>
          <p:nvPr/>
        </p:nvSpPr>
        <p:spPr>
          <a:xfrm>
            <a:off x="1325880" y="3913560"/>
            <a:ext cx="254880" cy="44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26"/>
          <p:cNvSpPr/>
          <p:nvPr/>
        </p:nvSpPr>
        <p:spPr>
          <a:xfrm>
            <a:off x="1645920" y="3703320"/>
            <a:ext cx="7176960" cy="5018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Text 27"/>
          <p:cNvSpPr/>
          <p:nvPr/>
        </p:nvSpPr>
        <p:spPr>
          <a:xfrm>
            <a:off x="1828800" y="3749040"/>
            <a:ext cx="6856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OpenAI releases GPT-3 (175B parameters) — demonstrates powerful few-shot language generation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Shape 28"/>
          <p:cNvSpPr/>
          <p:nvPr/>
        </p:nvSpPr>
        <p:spPr>
          <a:xfrm>
            <a:off x="320040" y="4407480"/>
            <a:ext cx="1004760" cy="47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29"/>
          <p:cNvSpPr/>
          <p:nvPr/>
        </p:nvSpPr>
        <p:spPr>
          <a:xfrm>
            <a:off x="320040" y="4407480"/>
            <a:ext cx="1004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2022+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4" name="Shape 30"/>
          <p:cNvSpPr/>
          <p:nvPr/>
        </p:nvSpPr>
        <p:spPr>
          <a:xfrm>
            <a:off x="1325880" y="4617720"/>
            <a:ext cx="254880" cy="44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31"/>
          <p:cNvSpPr/>
          <p:nvPr/>
        </p:nvSpPr>
        <p:spPr>
          <a:xfrm>
            <a:off x="1645920" y="4407480"/>
            <a:ext cx="7176960" cy="5018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 32"/>
          <p:cNvSpPr/>
          <p:nvPr/>
        </p:nvSpPr>
        <p:spPr>
          <a:xfrm>
            <a:off x="1828800" y="4453200"/>
            <a:ext cx="6856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ChatGPT, DALL-E 2, Stable Diffusion, Gemini, Claude — generative AI enters mainstream global use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How Generative AI Works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365760" y="713160"/>
            <a:ext cx="178200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3"/>
          <p:cNvSpPr/>
          <p:nvPr/>
        </p:nvSpPr>
        <p:spPr>
          <a:xfrm>
            <a:off x="201240" y="960120"/>
            <a:ext cx="1599120" cy="242208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4"/>
          <p:cNvSpPr/>
          <p:nvPr/>
        </p:nvSpPr>
        <p:spPr>
          <a:xfrm>
            <a:off x="201240" y="960120"/>
            <a:ext cx="1599120" cy="318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5"/>
          <p:cNvSpPr/>
          <p:nvPr/>
        </p:nvSpPr>
        <p:spPr>
          <a:xfrm>
            <a:off x="201240" y="960120"/>
            <a:ext cx="1599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0612"/>
                </a:solidFill>
                <a:latin typeface="Calibri"/>
                <a:ea typeface="DejaVu San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53" name="Image 0" descr="preencoded.png"/>
          <p:cNvPicPr/>
          <p:nvPr/>
        </p:nvPicPr>
        <p:blipFill>
          <a:blip r:embed="rId1"/>
          <a:stretch/>
        </p:blipFill>
        <p:spPr>
          <a:xfrm>
            <a:off x="704160" y="1371600"/>
            <a:ext cx="593280" cy="593280"/>
          </a:xfrm>
          <a:prstGeom prst="rect">
            <a:avLst/>
          </a:prstGeom>
          <a:ln w="0">
            <a:noFill/>
          </a:ln>
        </p:spPr>
      </p:pic>
      <p:sp>
        <p:nvSpPr>
          <p:cNvPr id="154" name="Text 6"/>
          <p:cNvSpPr/>
          <p:nvPr/>
        </p:nvSpPr>
        <p:spPr>
          <a:xfrm>
            <a:off x="246960" y="2057400"/>
            <a:ext cx="1507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Data Collection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246960" y="2450520"/>
            <a:ext cx="15076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Huge datasets of text, images, code etc.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1801440" y="2103120"/>
            <a:ext cx="16344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9"/>
          <p:cNvSpPr/>
          <p:nvPr/>
        </p:nvSpPr>
        <p:spPr>
          <a:xfrm>
            <a:off x="1920240" y="2030040"/>
            <a:ext cx="1087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0b981"/>
                </a:solidFill>
                <a:latin typeface="Calibri"/>
                <a:ea typeface="DejaVu Sans"/>
              </a:rPr>
              <a:t>▶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1984320" y="960120"/>
            <a:ext cx="1599120" cy="242208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11"/>
          <p:cNvSpPr/>
          <p:nvPr/>
        </p:nvSpPr>
        <p:spPr>
          <a:xfrm>
            <a:off x="1984320" y="960120"/>
            <a:ext cx="1599120" cy="318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2"/>
          <p:cNvSpPr/>
          <p:nvPr/>
        </p:nvSpPr>
        <p:spPr>
          <a:xfrm>
            <a:off x="1984320" y="960120"/>
            <a:ext cx="1599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0612"/>
                </a:solidFill>
                <a:latin typeface="Calibri"/>
                <a:ea typeface="DejaVu San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61" name="Image 1" descr="preencoded.png"/>
          <p:cNvPicPr/>
          <p:nvPr/>
        </p:nvPicPr>
        <p:blipFill>
          <a:blip r:embed="rId2"/>
          <a:stretch/>
        </p:blipFill>
        <p:spPr>
          <a:xfrm>
            <a:off x="2487240" y="1371600"/>
            <a:ext cx="593280" cy="593280"/>
          </a:xfrm>
          <a:prstGeom prst="rect">
            <a:avLst/>
          </a:prstGeom>
          <a:ln w="0">
            <a:noFill/>
          </a:ln>
        </p:spPr>
      </p:pic>
      <p:sp>
        <p:nvSpPr>
          <p:cNvPr id="162" name="Text 13"/>
          <p:cNvSpPr/>
          <p:nvPr/>
        </p:nvSpPr>
        <p:spPr>
          <a:xfrm>
            <a:off x="2030040" y="2057400"/>
            <a:ext cx="1507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Model Training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2030040" y="2450520"/>
            <a:ext cx="15076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Neural network learns patterns via backprop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4" name="Shape 15"/>
          <p:cNvSpPr/>
          <p:nvPr/>
        </p:nvSpPr>
        <p:spPr>
          <a:xfrm>
            <a:off x="3584520" y="2103120"/>
            <a:ext cx="16344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6"/>
          <p:cNvSpPr/>
          <p:nvPr/>
        </p:nvSpPr>
        <p:spPr>
          <a:xfrm>
            <a:off x="3703320" y="2030040"/>
            <a:ext cx="1087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0b981"/>
                </a:solidFill>
                <a:latin typeface="Calibri"/>
                <a:ea typeface="DejaVu Sans"/>
              </a:rPr>
              <a:t>▶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3767400" y="960120"/>
            <a:ext cx="1599120" cy="242208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18"/>
          <p:cNvSpPr/>
          <p:nvPr/>
        </p:nvSpPr>
        <p:spPr>
          <a:xfrm>
            <a:off x="3767400" y="960120"/>
            <a:ext cx="1599120" cy="318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9"/>
          <p:cNvSpPr/>
          <p:nvPr/>
        </p:nvSpPr>
        <p:spPr>
          <a:xfrm>
            <a:off x="3767400" y="960120"/>
            <a:ext cx="1599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0612"/>
                </a:solidFill>
                <a:latin typeface="Calibri"/>
                <a:ea typeface="DejaVu San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69" name="Image 2" descr="preencoded.png"/>
          <p:cNvPicPr/>
          <p:nvPr/>
        </p:nvPicPr>
        <p:blipFill>
          <a:blip r:embed="rId3"/>
          <a:stretch/>
        </p:blipFill>
        <p:spPr>
          <a:xfrm>
            <a:off x="4270320" y="1371600"/>
            <a:ext cx="593280" cy="593280"/>
          </a:xfrm>
          <a:prstGeom prst="rect">
            <a:avLst/>
          </a:prstGeom>
          <a:ln w="0">
            <a:noFill/>
          </a:ln>
        </p:spPr>
      </p:pic>
      <p:sp>
        <p:nvSpPr>
          <p:cNvPr id="170" name="Text 20"/>
          <p:cNvSpPr/>
          <p:nvPr/>
        </p:nvSpPr>
        <p:spPr>
          <a:xfrm>
            <a:off x="3813120" y="2057400"/>
            <a:ext cx="1507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Prompt Input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1" name="Text 21"/>
          <p:cNvSpPr/>
          <p:nvPr/>
        </p:nvSpPr>
        <p:spPr>
          <a:xfrm>
            <a:off x="3813120" y="2450520"/>
            <a:ext cx="15076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User provides instruction or query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2" name="Shape 22"/>
          <p:cNvSpPr/>
          <p:nvPr/>
        </p:nvSpPr>
        <p:spPr>
          <a:xfrm>
            <a:off x="5367600" y="2103120"/>
            <a:ext cx="16344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23"/>
          <p:cNvSpPr/>
          <p:nvPr/>
        </p:nvSpPr>
        <p:spPr>
          <a:xfrm>
            <a:off x="5486400" y="2030040"/>
            <a:ext cx="1087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0b981"/>
                </a:solidFill>
                <a:latin typeface="Calibri"/>
                <a:ea typeface="DejaVu Sans"/>
              </a:rPr>
              <a:t>▶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4" name="Shape 24"/>
          <p:cNvSpPr/>
          <p:nvPr/>
        </p:nvSpPr>
        <p:spPr>
          <a:xfrm>
            <a:off x="5550480" y="960120"/>
            <a:ext cx="1599120" cy="2422080"/>
          </a:xfrm>
          <a:prstGeom prst="rect">
            <a:avLst/>
          </a:prstGeom>
          <a:solidFill>
            <a:srgbClr val="12122e"/>
          </a:solidFill>
          <a:ln w="190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Shape 25"/>
          <p:cNvSpPr/>
          <p:nvPr/>
        </p:nvSpPr>
        <p:spPr>
          <a:xfrm>
            <a:off x="5550480" y="960120"/>
            <a:ext cx="1599120" cy="31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26"/>
          <p:cNvSpPr/>
          <p:nvPr/>
        </p:nvSpPr>
        <p:spPr>
          <a:xfrm>
            <a:off x="5550480" y="960120"/>
            <a:ext cx="1599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0612"/>
                </a:solidFill>
                <a:latin typeface="Calibri"/>
                <a:ea typeface="DejaVu Sans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77" name="Image 3" descr="preencoded.png"/>
          <p:cNvPicPr/>
          <p:nvPr/>
        </p:nvPicPr>
        <p:blipFill>
          <a:blip r:embed="rId4"/>
          <a:stretch/>
        </p:blipFill>
        <p:spPr>
          <a:xfrm>
            <a:off x="6053400" y="1371600"/>
            <a:ext cx="593280" cy="593280"/>
          </a:xfrm>
          <a:prstGeom prst="rect">
            <a:avLst/>
          </a:prstGeom>
          <a:ln w="0">
            <a:noFill/>
          </a:ln>
        </p:spPr>
      </p:pic>
      <p:sp>
        <p:nvSpPr>
          <p:cNvPr id="178" name="Text 27"/>
          <p:cNvSpPr/>
          <p:nvPr/>
        </p:nvSpPr>
        <p:spPr>
          <a:xfrm>
            <a:off x="5596200" y="2057400"/>
            <a:ext cx="1507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Inference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9" name="Text 28"/>
          <p:cNvSpPr/>
          <p:nvPr/>
        </p:nvSpPr>
        <p:spPr>
          <a:xfrm>
            <a:off x="5596200" y="2450520"/>
            <a:ext cx="15076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Model generates tokens/pixels probabilistically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0" name="Shape 29"/>
          <p:cNvSpPr/>
          <p:nvPr/>
        </p:nvSpPr>
        <p:spPr>
          <a:xfrm>
            <a:off x="7150680" y="2103120"/>
            <a:ext cx="16344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30"/>
          <p:cNvSpPr/>
          <p:nvPr/>
        </p:nvSpPr>
        <p:spPr>
          <a:xfrm>
            <a:off x="7269480" y="2030040"/>
            <a:ext cx="1087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0b981"/>
                </a:solidFill>
                <a:latin typeface="Calibri"/>
                <a:ea typeface="DejaVu Sans"/>
              </a:rPr>
              <a:t>▶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2" name="Shape 31"/>
          <p:cNvSpPr/>
          <p:nvPr/>
        </p:nvSpPr>
        <p:spPr>
          <a:xfrm>
            <a:off x="7333560" y="960120"/>
            <a:ext cx="1599120" cy="242208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32"/>
          <p:cNvSpPr/>
          <p:nvPr/>
        </p:nvSpPr>
        <p:spPr>
          <a:xfrm>
            <a:off x="7333560" y="960120"/>
            <a:ext cx="1599120" cy="318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33"/>
          <p:cNvSpPr/>
          <p:nvPr/>
        </p:nvSpPr>
        <p:spPr>
          <a:xfrm>
            <a:off x="7333560" y="960120"/>
            <a:ext cx="1599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0612"/>
                </a:solidFill>
                <a:latin typeface="Calibri"/>
                <a:ea typeface="DejaVu Sans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85" name="Image 4" descr="preencoded.png"/>
          <p:cNvPicPr/>
          <p:nvPr/>
        </p:nvPicPr>
        <p:blipFill>
          <a:blip r:embed="rId5"/>
          <a:stretch/>
        </p:blipFill>
        <p:spPr>
          <a:xfrm>
            <a:off x="7836480" y="1371600"/>
            <a:ext cx="593280" cy="593280"/>
          </a:xfrm>
          <a:prstGeom prst="rect">
            <a:avLst/>
          </a:prstGeom>
          <a:ln w="0">
            <a:noFill/>
          </a:ln>
        </p:spPr>
      </p:pic>
      <p:sp>
        <p:nvSpPr>
          <p:cNvPr id="186" name="Text 34"/>
          <p:cNvSpPr/>
          <p:nvPr/>
        </p:nvSpPr>
        <p:spPr>
          <a:xfrm>
            <a:off x="7379280" y="2057400"/>
            <a:ext cx="1507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7" name="Text 35"/>
          <p:cNvSpPr/>
          <p:nvPr/>
        </p:nvSpPr>
        <p:spPr>
          <a:xfrm>
            <a:off x="7379280" y="2450520"/>
            <a:ext cx="15076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Text, image, audio, or code returned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8" name="Shape 36"/>
          <p:cNvSpPr/>
          <p:nvPr/>
        </p:nvSpPr>
        <p:spPr>
          <a:xfrm>
            <a:off x="320040" y="3547800"/>
            <a:ext cx="8502840" cy="126072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89" name="Image 5" descr="preencoded.png"/>
          <p:cNvPicPr/>
          <p:nvPr/>
        </p:nvPicPr>
        <p:blipFill>
          <a:blip r:embed="rId6"/>
          <a:stretch/>
        </p:blipFill>
        <p:spPr>
          <a:xfrm>
            <a:off x="457200" y="370332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190" name="Text 37"/>
          <p:cNvSpPr/>
          <p:nvPr/>
        </p:nvSpPr>
        <p:spPr>
          <a:xfrm>
            <a:off x="1097280" y="3657600"/>
            <a:ext cx="45709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a855f7"/>
                </a:solidFill>
                <a:latin typeface="Calibri"/>
                <a:ea typeface="DejaVu Sans"/>
              </a:rPr>
              <a:t>Core Mechanism: Transformer + Attention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1" name="Text 38"/>
          <p:cNvSpPr/>
          <p:nvPr/>
        </p:nvSpPr>
        <p:spPr>
          <a:xfrm>
            <a:off x="1097280" y="4041720"/>
            <a:ext cx="73141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Transformer architecture uses self-attention to weigh relationships between all tokens in context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cbd5e1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Predicts the most probable next token iteratively to build complete, coherent responses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Generative AI Architecture (LLM)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365760" y="713160"/>
            <a:ext cx="210204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3"/>
          <p:cNvSpPr/>
          <p:nvPr/>
        </p:nvSpPr>
        <p:spPr>
          <a:xfrm>
            <a:off x="1692720" y="1968840"/>
            <a:ext cx="240120" cy="43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4"/>
          <p:cNvSpPr/>
          <p:nvPr/>
        </p:nvSpPr>
        <p:spPr>
          <a:xfrm>
            <a:off x="1882440" y="1915200"/>
            <a:ext cx="13608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7120" bIns="1771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0b981"/>
                </a:solidFill>
                <a:latin typeface="Calibri"/>
                <a:ea typeface="DejaVu Sans"/>
              </a:rPr>
              <a:t>▶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3499920" y="1968840"/>
            <a:ext cx="239760" cy="43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6"/>
          <p:cNvSpPr/>
          <p:nvPr/>
        </p:nvSpPr>
        <p:spPr>
          <a:xfrm>
            <a:off x="3688920" y="1915200"/>
            <a:ext cx="13680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7120" bIns="1771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0b981"/>
                </a:solidFill>
                <a:latin typeface="Calibri"/>
                <a:ea typeface="DejaVu Sans"/>
              </a:rPr>
              <a:t>▶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9" name="Shape 7"/>
          <p:cNvSpPr/>
          <p:nvPr/>
        </p:nvSpPr>
        <p:spPr>
          <a:xfrm>
            <a:off x="5392800" y="1968840"/>
            <a:ext cx="239760" cy="43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8"/>
          <p:cNvSpPr/>
          <p:nvPr/>
        </p:nvSpPr>
        <p:spPr>
          <a:xfrm>
            <a:off x="5582160" y="1915200"/>
            <a:ext cx="13644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7120" bIns="1771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0b981"/>
                </a:solidFill>
                <a:latin typeface="Calibri"/>
                <a:ea typeface="DejaVu Sans"/>
              </a:rPr>
              <a:t>▶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7200000" y="1968840"/>
            <a:ext cx="239760" cy="43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0"/>
          <p:cNvSpPr/>
          <p:nvPr/>
        </p:nvSpPr>
        <p:spPr>
          <a:xfrm>
            <a:off x="7389000" y="1915200"/>
            <a:ext cx="13680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7120" bIns="1771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0b981"/>
                </a:solidFill>
                <a:latin typeface="Calibri"/>
                <a:ea typeface="DejaVu Sans"/>
              </a:rPr>
              <a:t>▶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4532400" y="2482920"/>
            <a:ext cx="42120" cy="486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2"/>
          <p:cNvSpPr/>
          <p:nvPr/>
        </p:nvSpPr>
        <p:spPr>
          <a:xfrm>
            <a:off x="4463640" y="2864160"/>
            <a:ext cx="1882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59e0b"/>
                </a:solidFill>
                <a:latin typeface="Calibri"/>
                <a:ea typeface="DejaVu Sans"/>
              </a:rPr>
              <a:t>⇅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5" name="Shape 13"/>
          <p:cNvSpPr/>
          <p:nvPr/>
        </p:nvSpPr>
        <p:spPr>
          <a:xfrm>
            <a:off x="144000" y="1374480"/>
            <a:ext cx="1676880" cy="1284840"/>
          </a:xfrm>
          <a:prstGeom prst="rect">
            <a:avLst/>
          </a:prstGeom>
          <a:solidFill>
            <a:srgbClr val="0f0f28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14"/>
          <p:cNvSpPr/>
          <p:nvPr/>
        </p:nvSpPr>
        <p:spPr>
          <a:xfrm>
            <a:off x="144000" y="1374480"/>
            <a:ext cx="1676880" cy="264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7" name="Image 0" descr="preencoded.png"/>
          <p:cNvPicPr/>
          <p:nvPr/>
        </p:nvPicPr>
        <p:blipFill>
          <a:blip r:embed="rId1"/>
          <a:stretch/>
        </p:blipFill>
        <p:spPr>
          <a:xfrm>
            <a:off x="746280" y="1711440"/>
            <a:ext cx="472320" cy="486720"/>
          </a:xfrm>
          <a:prstGeom prst="rect">
            <a:avLst/>
          </a:prstGeom>
          <a:ln w="0">
            <a:noFill/>
          </a:ln>
        </p:spPr>
      </p:pic>
      <p:sp>
        <p:nvSpPr>
          <p:cNvPr id="208" name="Text 15"/>
          <p:cNvSpPr/>
          <p:nvPr/>
        </p:nvSpPr>
        <p:spPr>
          <a:xfrm>
            <a:off x="187200" y="2216880"/>
            <a:ext cx="1590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Training Data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187200" y="2456640"/>
            <a:ext cx="159048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bd5e1"/>
                </a:solidFill>
                <a:latin typeface="Calibri"/>
                <a:ea typeface="DejaVu Sans"/>
              </a:rPr>
              <a:t>Text / Images / Code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0" name="Shape 17"/>
          <p:cNvSpPr/>
          <p:nvPr/>
        </p:nvSpPr>
        <p:spPr>
          <a:xfrm>
            <a:off x="1951200" y="1374480"/>
            <a:ext cx="1676520" cy="1284840"/>
          </a:xfrm>
          <a:prstGeom prst="rect">
            <a:avLst/>
          </a:prstGeom>
          <a:solidFill>
            <a:srgbClr val="0f0f28"/>
          </a:solidFill>
          <a:ln w="254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18"/>
          <p:cNvSpPr/>
          <p:nvPr/>
        </p:nvSpPr>
        <p:spPr>
          <a:xfrm>
            <a:off x="1951200" y="1374480"/>
            <a:ext cx="1676520" cy="264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2" name="Image 1" descr="preencoded.png"/>
          <p:cNvPicPr/>
          <p:nvPr/>
        </p:nvPicPr>
        <p:blipFill>
          <a:blip r:embed="rId2"/>
          <a:stretch/>
        </p:blipFill>
        <p:spPr>
          <a:xfrm>
            <a:off x="2553480" y="1711440"/>
            <a:ext cx="471960" cy="486720"/>
          </a:xfrm>
          <a:prstGeom prst="rect">
            <a:avLst/>
          </a:prstGeom>
          <a:ln w="0">
            <a:noFill/>
          </a:ln>
        </p:spPr>
      </p:pic>
      <p:sp>
        <p:nvSpPr>
          <p:cNvPr id="213" name="Text 19"/>
          <p:cNvSpPr/>
          <p:nvPr/>
        </p:nvSpPr>
        <p:spPr>
          <a:xfrm>
            <a:off x="1993680" y="2216880"/>
            <a:ext cx="1591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Tokenizer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Text 20"/>
          <p:cNvSpPr/>
          <p:nvPr/>
        </p:nvSpPr>
        <p:spPr>
          <a:xfrm>
            <a:off x="1993680" y="2456640"/>
            <a:ext cx="159120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bd5e1"/>
                </a:solidFill>
                <a:latin typeface="Calibri"/>
                <a:ea typeface="DejaVu Sans"/>
              </a:rPr>
              <a:t>Text → Token IDs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5" name="Shape 21"/>
          <p:cNvSpPr/>
          <p:nvPr/>
        </p:nvSpPr>
        <p:spPr>
          <a:xfrm>
            <a:off x="3758040" y="1374480"/>
            <a:ext cx="1676880" cy="1284840"/>
          </a:xfrm>
          <a:prstGeom prst="rect">
            <a:avLst/>
          </a:prstGeom>
          <a:solidFill>
            <a:srgbClr val="0f0f28"/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Shape 22"/>
          <p:cNvSpPr/>
          <p:nvPr/>
        </p:nvSpPr>
        <p:spPr>
          <a:xfrm>
            <a:off x="3758040" y="1374480"/>
            <a:ext cx="1676880" cy="264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7" name="Image 2" descr="preencoded.png"/>
          <p:cNvPicPr/>
          <p:nvPr/>
        </p:nvPicPr>
        <p:blipFill>
          <a:blip r:embed="rId3"/>
          <a:stretch/>
        </p:blipFill>
        <p:spPr>
          <a:xfrm>
            <a:off x="4360320" y="1711440"/>
            <a:ext cx="472320" cy="486720"/>
          </a:xfrm>
          <a:prstGeom prst="rect">
            <a:avLst/>
          </a:prstGeom>
          <a:ln w="0">
            <a:noFill/>
          </a:ln>
        </p:spPr>
      </p:pic>
      <p:sp>
        <p:nvSpPr>
          <p:cNvPr id="218" name="Text 23"/>
          <p:cNvSpPr/>
          <p:nvPr/>
        </p:nvSpPr>
        <p:spPr>
          <a:xfrm>
            <a:off x="3800880" y="2216880"/>
            <a:ext cx="1590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Transformer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Text 24"/>
          <p:cNvSpPr/>
          <p:nvPr/>
        </p:nvSpPr>
        <p:spPr>
          <a:xfrm>
            <a:off x="3800880" y="2456640"/>
            <a:ext cx="159084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bd5e1"/>
                </a:solidFill>
                <a:latin typeface="Calibri"/>
                <a:ea typeface="DejaVu Sans"/>
              </a:rPr>
              <a:t>Encoder / Decoder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0" name="Shape 25"/>
          <p:cNvSpPr/>
          <p:nvPr/>
        </p:nvSpPr>
        <p:spPr>
          <a:xfrm>
            <a:off x="3758040" y="2926440"/>
            <a:ext cx="1676880" cy="1284840"/>
          </a:xfrm>
          <a:prstGeom prst="rect">
            <a:avLst/>
          </a:prstGeom>
          <a:solidFill>
            <a:srgbClr val="0f0f28"/>
          </a:solidFill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Shape 26"/>
          <p:cNvSpPr/>
          <p:nvPr/>
        </p:nvSpPr>
        <p:spPr>
          <a:xfrm>
            <a:off x="3758040" y="2926440"/>
            <a:ext cx="1676880" cy="26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22" name="Image 3" descr="preencoded.png"/>
          <p:cNvPicPr/>
          <p:nvPr/>
        </p:nvPicPr>
        <p:blipFill>
          <a:blip r:embed="rId4"/>
          <a:stretch/>
        </p:blipFill>
        <p:spPr>
          <a:xfrm>
            <a:off x="4360320" y="3263400"/>
            <a:ext cx="472320" cy="486720"/>
          </a:xfrm>
          <a:prstGeom prst="rect">
            <a:avLst/>
          </a:prstGeom>
          <a:ln w="0">
            <a:noFill/>
          </a:ln>
        </p:spPr>
      </p:pic>
      <p:sp>
        <p:nvSpPr>
          <p:cNvPr id="223" name="Text 27"/>
          <p:cNvSpPr/>
          <p:nvPr/>
        </p:nvSpPr>
        <p:spPr>
          <a:xfrm>
            <a:off x="3800880" y="3768840"/>
            <a:ext cx="1590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Attention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4" name="Text 28"/>
          <p:cNvSpPr/>
          <p:nvPr/>
        </p:nvSpPr>
        <p:spPr>
          <a:xfrm>
            <a:off x="3800880" y="4008600"/>
            <a:ext cx="159084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bd5e1"/>
                </a:solidFill>
                <a:latin typeface="Calibri"/>
                <a:ea typeface="DejaVu Sans"/>
              </a:rPr>
              <a:t>Self-Attention Layers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5" name="Shape 29"/>
          <p:cNvSpPr/>
          <p:nvPr/>
        </p:nvSpPr>
        <p:spPr>
          <a:xfrm>
            <a:off x="5564880" y="1374480"/>
            <a:ext cx="1676520" cy="1284840"/>
          </a:xfrm>
          <a:prstGeom prst="rect">
            <a:avLst/>
          </a:prstGeom>
          <a:solidFill>
            <a:srgbClr val="0f0f28"/>
          </a:solidFill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30"/>
          <p:cNvSpPr/>
          <p:nvPr/>
        </p:nvSpPr>
        <p:spPr>
          <a:xfrm>
            <a:off x="5564880" y="1374480"/>
            <a:ext cx="1676520" cy="264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27" name="Image 4" descr="preencoded.png"/>
          <p:cNvPicPr/>
          <p:nvPr/>
        </p:nvPicPr>
        <p:blipFill>
          <a:blip r:embed="rId5"/>
          <a:stretch/>
        </p:blipFill>
        <p:spPr>
          <a:xfrm>
            <a:off x="6167160" y="1711440"/>
            <a:ext cx="471960" cy="486720"/>
          </a:xfrm>
          <a:prstGeom prst="rect">
            <a:avLst/>
          </a:prstGeom>
          <a:ln w="0">
            <a:noFill/>
          </a:ln>
        </p:spPr>
      </p:pic>
      <p:sp>
        <p:nvSpPr>
          <p:cNvPr id="228" name="Text 31"/>
          <p:cNvSpPr/>
          <p:nvPr/>
        </p:nvSpPr>
        <p:spPr>
          <a:xfrm>
            <a:off x="5607720" y="2216880"/>
            <a:ext cx="15912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Output Layer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9" name="Text 32"/>
          <p:cNvSpPr/>
          <p:nvPr/>
        </p:nvSpPr>
        <p:spPr>
          <a:xfrm>
            <a:off x="5607720" y="2456640"/>
            <a:ext cx="159120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bd5e1"/>
                </a:solidFill>
                <a:latin typeface="Calibri"/>
                <a:ea typeface="DejaVu Sans"/>
              </a:rPr>
              <a:t>Token Probabilities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0" name="Shape 33"/>
          <p:cNvSpPr/>
          <p:nvPr/>
        </p:nvSpPr>
        <p:spPr>
          <a:xfrm>
            <a:off x="7356960" y="1379520"/>
            <a:ext cx="1676880" cy="1284840"/>
          </a:xfrm>
          <a:prstGeom prst="rect">
            <a:avLst/>
          </a:prstGeom>
          <a:solidFill>
            <a:srgbClr val="0f0f28"/>
          </a:solidFill>
          <a:ln w="254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34"/>
          <p:cNvSpPr/>
          <p:nvPr/>
        </p:nvSpPr>
        <p:spPr>
          <a:xfrm>
            <a:off x="7366680" y="1379520"/>
            <a:ext cx="1676880" cy="264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32" name="Image 5" descr="preencoded.png"/>
          <p:cNvPicPr/>
          <p:nvPr/>
        </p:nvPicPr>
        <p:blipFill>
          <a:blip r:embed="rId6"/>
          <a:stretch/>
        </p:blipFill>
        <p:spPr>
          <a:xfrm>
            <a:off x="7968240" y="1718640"/>
            <a:ext cx="472320" cy="486720"/>
          </a:xfrm>
          <a:prstGeom prst="rect">
            <a:avLst/>
          </a:prstGeom>
          <a:ln w="0">
            <a:noFill/>
          </a:ln>
        </p:spPr>
      </p:pic>
      <p:sp>
        <p:nvSpPr>
          <p:cNvPr id="233" name="Text 35"/>
          <p:cNvSpPr/>
          <p:nvPr/>
        </p:nvSpPr>
        <p:spPr>
          <a:xfrm>
            <a:off x="7516440" y="2286720"/>
            <a:ext cx="15908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Generated 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4" name="Text 36"/>
          <p:cNvSpPr/>
          <p:nvPr/>
        </p:nvSpPr>
        <p:spPr>
          <a:xfrm>
            <a:off x="7516440" y="2526480"/>
            <a:ext cx="159084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bd5e1"/>
                </a:solidFill>
                <a:latin typeface="Calibri"/>
                <a:ea typeface="DejaVu Sans"/>
              </a:rPr>
              <a:t>Final Response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5" name="Shape 37"/>
          <p:cNvSpPr/>
          <p:nvPr/>
        </p:nvSpPr>
        <p:spPr>
          <a:xfrm>
            <a:off x="320040" y="4617720"/>
            <a:ext cx="8502840" cy="456120"/>
          </a:xfrm>
          <a:prstGeom prst="rect">
            <a:avLst/>
          </a:prstGeom>
          <a:solidFill>
            <a:srgbClr val="12122e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38"/>
          <p:cNvSpPr/>
          <p:nvPr/>
        </p:nvSpPr>
        <p:spPr>
          <a:xfrm>
            <a:off x="457200" y="468180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59e0b"/>
                </a:solidFill>
                <a:latin typeface="Calibri"/>
                <a:ea typeface="DejaVu Sans"/>
              </a:rPr>
              <a:t>Fine-tuning via RLHF (Reinforcement Learning from Human Feedback) aligns the model's outputs with human values and preferences.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Types of Generative AI Models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39" name="Shape 2"/>
          <p:cNvSpPr/>
          <p:nvPr/>
        </p:nvSpPr>
        <p:spPr>
          <a:xfrm>
            <a:off x="365760" y="713160"/>
            <a:ext cx="191916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Shape 3"/>
          <p:cNvSpPr/>
          <p:nvPr/>
        </p:nvSpPr>
        <p:spPr>
          <a:xfrm>
            <a:off x="274320" y="868680"/>
            <a:ext cx="27421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41" name="Image 0" descr="preencoded.png"/>
          <p:cNvPicPr/>
          <p:nvPr/>
        </p:nvPicPr>
        <p:blipFill>
          <a:blip r:embed="rId1"/>
          <a:stretch/>
        </p:blipFill>
        <p:spPr>
          <a:xfrm>
            <a:off x="365760" y="94176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242" name="Text 4"/>
          <p:cNvSpPr/>
          <p:nvPr/>
        </p:nvSpPr>
        <p:spPr>
          <a:xfrm>
            <a:off x="841320" y="941760"/>
            <a:ext cx="2083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DejaVu Sans"/>
              </a:rPr>
              <a:t>Large Language Models (LLMs)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365760" y="1508760"/>
            <a:ext cx="2559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e.g. GPT-4, Claude, Gemini, LLaMA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365760" y="1837800"/>
            <a:ext cx="2559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Generate and understand text; power chatbots, summarisation, coding assistants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5" name="Shape 7"/>
          <p:cNvSpPr/>
          <p:nvPr/>
        </p:nvSpPr>
        <p:spPr>
          <a:xfrm>
            <a:off x="3218760" y="868680"/>
            <a:ext cx="27421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46" name="Image 1" descr="preencoded.png"/>
          <p:cNvPicPr/>
          <p:nvPr/>
        </p:nvPicPr>
        <p:blipFill>
          <a:blip r:embed="rId2"/>
          <a:stretch/>
        </p:blipFill>
        <p:spPr>
          <a:xfrm>
            <a:off x="3310200" y="94176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247" name="Text 8"/>
          <p:cNvSpPr/>
          <p:nvPr/>
        </p:nvSpPr>
        <p:spPr>
          <a:xfrm>
            <a:off x="3785760" y="941760"/>
            <a:ext cx="2083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d3ee"/>
                </a:solidFill>
                <a:latin typeface="Calibri"/>
                <a:ea typeface="DejaVu Sans"/>
              </a:rPr>
              <a:t>Diffusion Models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3310200" y="1508760"/>
            <a:ext cx="2559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e.g. DALL-E 3, Stable Diffusion, Midjourney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3310200" y="1837800"/>
            <a:ext cx="2559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Generate photorealistic images from text prompts via iterative noise removal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0" name="Shape 11"/>
          <p:cNvSpPr/>
          <p:nvPr/>
        </p:nvSpPr>
        <p:spPr>
          <a:xfrm>
            <a:off x="6163200" y="868680"/>
            <a:ext cx="27421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51" name="Image 2" descr="preencoded.png"/>
          <p:cNvPicPr/>
          <p:nvPr/>
        </p:nvPicPr>
        <p:blipFill>
          <a:blip r:embed="rId3"/>
          <a:stretch/>
        </p:blipFill>
        <p:spPr>
          <a:xfrm>
            <a:off x="6254640" y="94176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252" name="Text 12"/>
          <p:cNvSpPr/>
          <p:nvPr/>
        </p:nvSpPr>
        <p:spPr>
          <a:xfrm>
            <a:off x="6729840" y="941760"/>
            <a:ext cx="2083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a855f7"/>
                </a:solidFill>
                <a:latin typeface="Calibri"/>
                <a:ea typeface="DejaVu Sans"/>
              </a:rPr>
              <a:t>Generative Adversarial Networks (GANs)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6254640" y="1508760"/>
            <a:ext cx="2559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e.g. StyleGAN, CycleGAN, DeepFakes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6254640" y="1837800"/>
            <a:ext cx="2559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Generator vs. Discriminator compete to produce hyper-realistic synthetic media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5" name="Shape 15"/>
          <p:cNvSpPr/>
          <p:nvPr/>
        </p:nvSpPr>
        <p:spPr>
          <a:xfrm>
            <a:off x="274320" y="3063240"/>
            <a:ext cx="27421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56" name="Image 3" descr="preencoded.png"/>
          <p:cNvPicPr/>
          <p:nvPr/>
        </p:nvPicPr>
        <p:blipFill>
          <a:blip r:embed="rId4"/>
          <a:stretch/>
        </p:blipFill>
        <p:spPr>
          <a:xfrm>
            <a:off x="365760" y="313632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257" name="Text 16"/>
          <p:cNvSpPr/>
          <p:nvPr/>
        </p:nvSpPr>
        <p:spPr>
          <a:xfrm>
            <a:off x="841320" y="3136320"/>
            <a:ext cx="2083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DejaVu Sans"/>
              </a:rPr>
              <a:t>Variational Autoencoders (VAEs)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Text 17"/>
          <p:cNvSpPr/>
          <p:nvPr/>
        </p:nvSpPr>
        <p:spPr>
          <a:xfrm>
            <a:off x="365760" y="3703320"/>
            <a:ext cx="2559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e.g. Used in image compression, drug discovery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9" name="Text 18"/>
          <p:cNvSpPr/>
          <p:nvPr/>
        </p:nvSpPr>
        <p:spPr>
          <a:xfrm>
            <a:off x="365760" y="4032360"/>
            <a:ext cx="2559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Encode data into a latent space then decode to generate variations or reconstruct data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0" name="Shape 19"/>
          <p:cNvSpPr/>
          <p:nvPr/>
        </p:nvSpPr>
        <p:spPr>
          <a:xfrm>
            <a:off x="3218760" y="3063240"/>
            <a:ext cx="27421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61" name="Image 4" descr="preencoded.png"/>
          <p:cNvPicPr/>
          <p:nvPr/>
        </p:nvPicPr>
        <p:blipFill>
          <a:blip r:embed="rId5"/>
          <a:stretch/>
        </p:blipFill>
        <p:spPr>
          <a:xfrm>
            <a:off x="3310200" y="313632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262" name="Text 20"/>
          <p:cNvSpPr/>
          <p:nvPr/>
        </p:nvSpPr>
        <p:spPr>
          <a:xfrm>
            <a:off x="3785760" y="3136320"/>
            <a:ext cx="2083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DejaVu Sans"/>
              </a:rPr>
              <a:t>Music &amp; Audio Models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3" name="Text 21"/>
          <p:cNvSpPr/>
          <p:nvPr/>
        </p:nvSpPr>
        <p:spPr>
          <a:xfrm>
            <a:off x="3310200" y="3703320"/>
            <a:ext cx="2559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e.g. MusicLM, Suno AI, ElevenLabs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4" name="Text 22"/>
          <p:cNvSpPr/>
          <p:nvPr/>
        </p:nvSpPr>
        <p:spPr>
          <a:xfrm>
            <a:off x="3310200" y="4032360"/>
            <a:ext cx="2559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Compose original music, generate voice clones, and produce sound effects from prompts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5" name="Shape 23"/>
          <p:cNvSpPr/>
          <p:nvPr/>
        </p:nvSpPr>
        <p:spPr>
          <a:xfrm>
            <a:off x="6163200" y="3063240"/>
            <a:ext cx="27421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66" name="Image 5" descr="preencoded.png"/>
          <p:cNvPicPr/>
          <p:nvPr/>
        </p:nvPicPr>
        <p:blipFill>
          <a:blip r:embed="rId6"/>
          <a:stretch/>
        </p:blipFill>
        <p:spPr>
          <a:xfrm>
            <a:off x="6254640" y="313632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267" name="Text 24"/>
          <p:cNvSpPr/>
          <p:nvPr/>
        </p:nvSpPr>
        <p:spPr>
          <a:xfrm>
            <a:off x="6729840" y="3136320"/>
            <a:ext cx="2083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d3ee"/>
                </a:solidFill>
                <a:latin typeface="Calibri"/>
                <a:ea typeface="DejaVu Sans"/>
              </a:rPr>
              <a:t>Code Generation Models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8" name="Text 25"/>
          <p:cNvSpPr/>
          <p:nvPr/>
        </p:nvSpPr>
        <p:spPr>
          <a:xfrm>
            <a:off x="6254640" y="3703320"/>
            <a:ext cx="25592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2d3ee"/>
                </a:solidFill>
                <a:latin typeface="Calibri"/>
                <a:ea typeface="Calibri"/>
              </a:rPr>
              <a:t>e.g. GitHub Copilot, CodeLlama, Codex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9" name="Text 26"/>
          <p:cNvSpPr/>
          <p:nvPr/>
        </p:nvSpPr>
        <p:spPr>
          <a:xfrm>
            <a:off x="6254640" y="4032360"/>
            <a:ext cx="2559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Auto-complete, generate, and explain code across dozens of programming languages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Key Technologies Behind Generative AI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365760" y="713160"/>
            <a:ext cx="210204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3"/>
          <p:cNvSpPr/>
          <p:nvPr/>
        </p:nvSpPr>
        <p:spPr>
          <a:xfrm>
            <a:off x="274320" y="868680"/>
            <a:ext cx="4113720" cy="123336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74" name="Image 0" descr="preencoded.png"/>
          <p:cNvPicPr/>
          <p:nvPr/>
        </p:nvPicPr>
        <p:blipFill>
          <a:blip r:embed="rId1"/>
          <a:stretch/>
        </p:blipFill>
        <p:spPr>
          <a:xfrm>
            <a:off x="384120" y="97848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275" name="Text 4"/>
          <p:cNvSpPr/>
          <p:nvPr/>
        </p:nvSpPr>
        <p:spPr>
          <a:xfrm>
            <a:off x="932760" y="960120"/>
            <a:ext cx="3336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DejaVu Sans"/>
              </a:rPr>
              <a:t>Transformer Architecture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932760" y="1371600"/>
            <a:ext cx="72000" cy="20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6"/>
          <p:cNvSpPr/>
          <p:nvPr/>
        </p:nvSpPr>
        <p:spPr>
          <a:xfrm>
            <a:off x="1078920" y="137160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Self-attention mechanism models context across all input tokens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8" name="Shape 7"/>
          <p:cNvSpPr/>
          <p:nvPr/>
        </p:nvSpPr>
        <p:spPr>
          <a:xfrm>
            <a:off x="932760" y="1719000"/>
            <a:ext cx="72000" cy="20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8"/>
          <p:cNvSpPr/>
          <p:nvPr/>
        </p:nvSpPr>
        <p:spPr>
          <a:xfrm>
            <a:off x="1078920" y="171900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Parallelisable training on massive datasets (GPUs/TPUs)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0" name="Shape 9"/>
          <p:cNvSpPr/>
          <p:nvPr/>
        </p:nvSpPr>
        <p:spPr>
          <a:xfrm>
            <a:off x="4709160" y="868680"/>
            <a:ext cx="4113720" cy="123336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81" name="Image 1" descr="preencoded.png"/>
          <p:cNvPicPr/>
          <p:nvPr/>
        </p:nvPicPr>
        <p:blipFill>
          <a:blip r:embed="rId2"/>
          <a:stretch/>
        </p:blipFill>
        <p:spPr>
          <a:xfrm>
            <a:off x="4818960" y="97848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282" name="Text 10"/>
          <p:cNvSpPr/>
          <p:nvPr/>
        </p:nvSpPr>
        <p:spPr>
          <a:xfrm>
            <a:off x="5367600" y="960120"/>
            <a:ext cx="3336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  <a:ea typeface="DejaVu Sans"/>
              </a:rPr>
              <a:t>Large-Scale Datasets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3" name="Shape 11"/>
          <p:cNvSpPr/>
          <p:nvPr/>
        </p:nvSpPr>
        <p:spPr>
          <a:xfrm>
            <a:off x="5367600" y="1371600"/>
            <a:ext cx="72000" cy="20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12"/>
          <p:cNvSpPr/>
          <p:nvPr/>
        </p:nvSpPr>
        <p:spPr>
          <a:xfrm>
            <a:off x="5513760" y="137160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Trillions of tokens from web, books, code, and more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5" name="Shape 13"/>
          <p:cNvSpPr/>
          <p:nvPr/>
        </p:nvSpPr>
        <p:spPr>
          <a:xfrm>
            <a:off x="5367600" y="1719000"/>
            <a:ext cx="72000" cy="20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14"/>
          <p:cNvSpPr/>
          <p:nvPr/>
        </p:nvSpPr>
        <p:spPr>
          <a:xfrm>
            <a:off x="5513760" y="171900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Data quality and curation critical for model capability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7" name="Shape 15"/>
          <p:cNvSpPr/>
          <p:nvPr/>
        </p:nvSpPr>
        <p:spPr>
          <a:xfrm>
            <a:off x="274320" y="2286000"/>
            <a:ext cx="4113720" cy="123336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88" name="Image 2" descr="preencoded.png"/>
          <p:cNvPicPr/>
          <p:nvPr/>
        </p:nvPicPr>
        <p:blipFill>
          <a:blip r:embed="rId3"/>
          <a:stretch/>
        </p:blipFill>
        <p:spPr>
          <a:xfrm>
            <a:off x="384120" y="239580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289" name="Text 16"/>
          <p:cNvSpPr/>
          <p:nvPr/>
        </p:nvSpPr>
        <p:spPr>
          <a:xfrm>
            <a:off x="932760" y="2377440"/>
            <a:ext cx="3336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855f7"/>
                </a:solidFill>
                <a:latin typeface="Calibri"/>
                <a:ea typeface="DejaVu Sans"/>
              </a:rPr>
              <a:t>RLHF Fine-Tuning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0" name="Shape 17"/>
          <p:cNvSpPr/>
          <p:nvPr/>
        </p:nvSpPr>
        <p:spPr>
          <a:xfrm>
            <a:off x="932760" y="2788920"/>
            <a:ext cx="72000" cy="2001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18"/>
          <p:cNvSpPr/>
          <p:nvPr/>
        </p:nvSpPr>
        <p:spPr>
          <a:xfrm>
            <a:off x="1078920" y="278892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Human raters rank model outputs to create reward signal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2" name="Shape 19"/>
          <p:cNvSpPr/>
          <p:nvPr/>
        </p:nvSpPr>
        <p:spPr>
          <a:xfrm>
            <a:off x="932760" y="3136320"/>
            <a:ext cx="72000" cy="2001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20"/>
          <p:cNvSpPr/>
          <p:nvPr/>
        </p:nvSpPr>
        <p:spPr>
          <a:xfrm>
            <a:off x="1078920" y="313632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Proximal Policy Optimisation (PPO) aligns model behaviour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4" name="Shape 21"/>
          <p:cNvSpPr/>
          <p:nvPr/>
        </p:nvSpPr>
        <p:spPr>
          <a:xfrm>
            <a:off x="4709160" y="2286000"/>
            <a:ext cx="4113720" cy="1233360"/>
          </a:xfrm>
          <a:prstGeom prst="rect">
            <a:avLst/>
          </a:prstGeom>
          <a:solidFill>
            <a:srgbClr val="12122e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95" name="Image 3" descr="preencoded.png"/>
          <p:cNvPicPr/>
          <p:nvPr/>
        </p:nvPicPr>
        <p:blipFill>
          <a:blip r:embed="rId4"/>
          <a:stretch/>
        </p:blipFill>
        <p:spPr>
          <a:xfrm>
            <a:off x="4818960" y="239580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296" name="Text 22"/>
          <p:cNvSpPr/>
          <p:nvPr/>
        </p:nvSpPr>
        <p:spPr>
          <a:xfrm>
            <a:off x="5367600" y="2377440"/>
            <a:ext cx="3336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DejaVu Sans"/>
              </a:rPr>
              <a:t>Prompt Engineering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7" name="Shape 23"/>
          <p:cNvSpPr/>
          <p:nvPr/>
        </p:nvSpPr>
        <p:spPr>
          <a:xfrm>
            <a:off x="5367600" y="2788920"/>
            <a:ext cx="72000" cy="20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24"/>
          <p:cNvSpPr/>
          <p:nvPr/>
        </p:nvSpPr>
        <p:spPr>
          <a:xfrm>
            <a:off x="5513760" y="278892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Carefully crafted prompts dramatically improve outputs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9" name="Shape 25"/>
          <p:cNvSpPr/>
          <p:nvPr/>
        </p:nvSpPr>
        <p:spPr>
          <a:xfrm>
            <a:off x="5367600" y="3136320"/>
            <a:ext cx="72000" cy="20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26"/>
          <p:cNvSpPr/>
          <p:nvPr/>
        </p:nvSpPr>
        <p:spPr>
          <a:xfrm>
            <a:off x="5513760" y="313632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Chain-of-thought, few-shot, zero-shot prompting techniques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1" name="Shape 27"/>
          <p:cNvSpPr/>
          <p:nvPr/>
        </p:nvSpPr>
        <p:spPr>
          <a:xfrm>
            <a:off x="274320" y="3703320"/>
            <a:ext cx="4113720" cy="123336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02" name="Image 4" descr="preencoded.png"/>
          <p:cNvPicPr/>
          <p:nvPr/>
        </p:nvPicPr>
        <p:blipFill>
          <a:blip r:embed="rId5"/>
          <a:stretch/>
        </p:blipFill>
        <p:spPr>
          <a:xfrm>
            <a:off x="384120" y="38131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303" name="Text 28"/>
          <p:cNvSpPr/>
          <p:nvPr/>
        </p:nvSpPr>
        <p:spPr>
          <a:xfrm>
            <a:off x="932760" y="3794760"/>
            <a:ext cx="3336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  <a:ea typeface="DejaVu Sans"/>
              </a:rPr>
              <a:t>Vector Embeddings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4" name="Shape 29"/>
          <p:cNvSpPr/>
          <p:nvPr/>
        </p:nvSpPr>
        <p:spPr>
          <a:xfrm>
            <a:off x="932760" y="4206240"/>
            <a:ext cx="72000" cy="20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30"/>
          <p:cNvSpPr/>
          <p:nvPr/>
        </p:nvSpPr>
        <p:spPr>
          <a:xfrm>
            <a:off x="1078920" y="420624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Words/images represented as high-dimensional vectors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6" name="Shape 31"/>
          <p:cNvSpPr/>
          <p:nvPr/>
        </p:nvSpPr>
        <p:spPr>
          <a:xfrm>
            <a:off x="932760" y="4553640"/>
            <a:ext cx="72000" cy="20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32"/>
          <p:cNvSpPr/>
          <p:nvPr/>
        </p:nvSpPr>
        <p:spPr>
          <a:xfrm>
            <a:off x="1078920" y="455364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Semantic similarity enables retrieval-augmented generation (RAG)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Shape 33"/>
          <p:cNvSpPr/>
          <p:nvPr/>
        </p:nvSpPr>
        <p:spPr>
          <a:xfrm>
            <a:off x="4709160" y="3703320"/>
            <a:ext cx="4113720" cy="123336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09" name="Image 5" descr="preencoded.png"/>
          <p:cNvPicPr/>
          <p:nvPr/>
        </p:nvPicPr>
        <p:blipFill>
          <a:blip r:embed="rId6"/>
          <a:stretch/>
        </p:blipFill>
        <p:spPr>
          <a:xfrm>
            <a:off x="4818960" y="38131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310" name="Text 34"/>
          <p:cNvSpPr/>
          <p:nvPr/>
        </p:nvSpPr>
        <p:spPr>
          <a:xfrm>
            <a:off x="5367600" y="3794760"/>
            <a:ext cx="3336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DejaVu Sans"/>
              </a:rPr>
              <a:t>GPU / TPU Computing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1" name="Shape 35"/>
          <p:cNvSpPr/>
          <p:nvPr/>
        </p:nvSpPr>
        <p:spPr>
          <a:xfrm>
            <a:off x="5367600" y="4206240"/>
            <a:ext cx="72000" cy="20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36"/>
          <p:cNvSpPr/>
          <p:nvPr/>
        </p:nvSpPr>
        <p:spPr>
          <a:xfrm>
            <a:off x="5513760" y="420624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Massive parallel compute required for training large models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3" name="Shape 37"/>
          <p:cNvSpPr/>
          <p:nvPr/>
        </p:nvSpPr>
        <p:spPr>
          <a:xfrm>
            <a:off x="5367600" y="4553640"/>
            <a:ext cx="72000" cy="20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38"/>
          <p:cNvSpPr/>
          <p:nvPr/>
        </p:nvSpPr>
        <p:spPr>
          <a:xfrm>
            <a:off x="5513760" y="4553640"/>
            <a:ext cx="3180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Cloud providers (AWS, Azure, GCP) democratise access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Popular Generative AI Tools &amp; Platforms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17" name="Shape 2"/>
          <p:cNvSpPr/>
          <p:nvPr/>
        </p:nvSpPr>
        <p:spPr>
          <a:xfrm>
            <a:off x="365760" y="713160"/>
            <a:ext cx="219348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Shape 3"/>
          <p:cNvSpPr/>
          <p:nvPr/>
        </p:nvSpPr>
        <p:spPr>
          <a:xfrm>
            <a:off x="274320" y="868680"/>
            <a:ext cx="4113720" cy="19922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Shape 4"/>
          <p:cNvSpPr/>
          <p:nvPr/>
        </p:nvSpPr>
        <p:spPr>
          <a:xfrm>
            <a:off x="274320" y="868680"/>
            <a:ext cx="4113720" cy="38304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20" name="Image 0" descr="preencoded.png"/>
          <p:cNvPicPr/>
          <p:nvPr/>
        </p:nvPicPr>
        <p:blipFill>
          <a:blip r:embed="rId1"/>
          <a:stretch/>
        </p:blipFill>
        <p:spPr>
          <a:xfrm>
            <a:off x="365760" y="923400"/>
            <a:ext cx="273240" cy="273240"/>
          </a:xfrm>
          <a:prstGeom prst="rect">
            <a:avLst/>
          </a:prstGeom>
          <a:ln w="0">
            <a:noFill/>
          </a:ln>
        </p:spPr>
      </p:pic>
      <p:sp>
        <p:nvSpPr>
          <p:cNvPr id="321" name="Text 5"/>
          <p:cNvSpPr/>
          <p:nvPr/>
        </p:nvSpPr>
        <p:spPr>
          <a:xfrm>
            <a:off x="713160" y="90540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ChatGPT / GPT-4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2" name="Text 6"/>
          <p:cNvSpPr/>
          <p:nvPr/>
        </p:nvSpPr>
        <p:spPr>
          <a:xfrm>
            <a:off x="713160" y="868680"/>
            <a:ext cx="3565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by OpenAI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3" name="Text 7"/>
          <p:cNvSpPr/>
          <p:nvPr/>
        </p:nvSpPr>
        <p:spPr>
          <a:xfrm>
            <a:off x="594360" y="139896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Most widely used LLM chatbot globally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4" name="Shape 8"/>
          <p:cNvSpPr/>
          <p:nvPr/>
        </p:nvSpPr>
        <p:spPr>
          <a:xfrm>
            <a:off x="438840" y="1527120"/>
            <a:ext cx="90360" cy="90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9"/>
          <p:cNvSpPr/>
          <p:nvPr/>
        </p:nvSpPr>
        <p:spPr>
          <a:xfrm>
            <a:off x="594360" y="185616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GPT-4 supports text, images, and code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6" name="Shape 10"/>
          <p:cNvSpPr/>
          <p:nvPr/>
        </p:nvSpPr>
        <p:spPr>
          <a:xfrm>
            <a:off x="438840" y="1984320"/>
            <a:ext cx="90360" cy="90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11"/>
          <p:cNvSpPr/>
          <p:nvPr/>
        </p:nvSpPr>
        <p:spPr>
          <a:xfrm>
            <a:off x="594360" y="231336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100M+ active weekly users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8" name="Shape 12"/>
          <p:cNvSpPr/>
          <p:nvPr/>
        </p:nvSpPr>
        <p:spPr>
          <a:xfrm>
            <a:off x="438840" y="2441520"/>
            <a:ext cx="90360" cy="90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13"/>
          <p:cNvSpPr/>
          <p:nvPr/>
        </p:nvSpPr>
        <p:spPr>
          <a:xfrm>
            <a:off x="4709160" y="868680"/>
            <a:ext cx="4113720" cy="199224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0" name="Shape 14"/>
          <p:cNvSpPr/>
          <p:nvPr/>
        </p:nvSpPr>
        <p:spPr>
          <a:xfrm>
            <a:off x="4709160" y="868680"/>
            <a:ext cx="4113720" cy="383040"/>
          </a:xfrm>
          <a:prstGeom prst="rect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31" name="Image 1" descr="preencoded.png"/>
          <p:cNvPicPr/>
          <p:nvPr/>
        </p:nvPicPr>
        <p:blipFill>
          <a:blip r:embed="rId2"/>
          <a:stretch/>
        </p:blipFill>
        <p:spPr>
          <a:xfrm>
            <a:off x="4800600" y="923400"/>
            <a:ext cx="273240" cy="273240"/>
          </a:xfrm>
          <a:prstGeom prst="rect">
            <a:avLst/>
          </a:prstGeom>
          <a:ln w="0">
            <a:noFill/>
          </a:ln>
        </p:spPr>
      </p:pic>
      <p:sp>
        <p:nvSpPr>
          <p:cNvPr id="332" name="Text 15"/>
          <p:cNvSpPr/>
          <p:nvPr/>
        </p:nvSpPr>
        <p:spPr>
          <a:xfrm>
            <a:off x="5148000" y="90540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Google Gemini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33" name="Text 16"/>
          <p:cNvSpPr/>
          <p:nvPr/>
        </p:nvSpPr>
        <p:spPr>
          <a:xfrm>
            <a:off x="5148000" y="868680"/>
            <a:ext cx="3565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by Google DeepMind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4" name="Text 17"/>
          <p:cNvSpPr/>
          <p:nvPr/>
        </p:nvSpPr>
        <p:spPr>
          <a:xfrm>
            <a:off x="5029200" y="139896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Multimodal — text, images, audio, video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5" name="Shape 18"/>
          <p:cNvSpPr/>
          <p:nvPr/>
        </p:nvSpPr>
        <p:spPr>
          <a:xfrm>
            <a:off x="4873680" y="1527120"/>
            <a:ext cx="90360" cy="90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19"/>
          <p:cNvSpPr/>
          <p:nvPr/>
        </p:nvSpPr>
        <p:spPr>
          <a:xfrm>
            <a:off x="5029200" y="185616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Integrated into Google Workspace &amp; Search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7" name="Shape 20"/>
          <p:cNvSpPr/>
          <p:nvPr/>
        </p:nvSpPr>
        <p:spPr>
          <a:xfrm>
            <a:off x="4873680" y="1984320"/>
            <a:ext cx="90360" cy="90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21"/>
          <p:cNvSpPr/>
          <p:nvPr/>
        </p:nvSpPr>
        <p:spPr>
          <a:xfrm>
            <a:off x="5029200" y="231336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Ultra, Pro, and Nano model tiers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9" name="Shape 22"/>
          <p:cNvSpPr/>
          <p:nvPr/>
        </p:nvSpPr>
        <p:spPr>
          <a:xfrm>
            <a:off x="4873680" y="2441520"/>
            <a:ext cx="90360" cy="90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Shape 23"/>
          <p:cNvSpPr/>
          <p:nvPr/>
        </p:nvSpPr>
        <p:spPr>
          <a:xfrm>
            <a:off x="274320" y="3081600"/>
            <a:ext cx="4113720" cy="199224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Shape 24"/>
          <p:cNvSpPr/>
          <p:nvPr/>
        </p:nvSpPr>
        <p:spPr>
          <a:xfrm>
            <a:off x="274320" y="3081600"/>
            <a:ext cx="4113720" cy="38304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42" name="Image 2" descr="preencoded.png"/>
          <p:cNvPicPr/>
          <p:nvPr/>
        </p:nvPicPr>
        <p:blipFill>
          <a:blip r:embed="rId3"/>
          <a:stretch/>
        </p:blipFill>
        <p:spPr>
          <a:xfrm>
            <a:off x="365760" y="3136320"/>
            <a:ext cx="273240" cy="273240"/>
          </a:xfrm>
          <a:prstGeom prst="rect">
            <a:avLst/>
          </a:prstGeom>
          <a:ln w="0">
            <a:noFill/>
          </a:ln>
        </p:spPr>
      </p:pic>
      <p:sp>
        <p:nvSpPr>
          <p:cNvPr id="343" name="Text 25"/>
          <p:cNvSpPr/>
          <p:nvPr/>
        </p:nvSpPr>
        <p:spPr>
          <a:xfrm>
            <a:off x="713160" y="311796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Anthropic Claude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44" name="Text 26"/>
          <p:cNvSpPr/>
          <p:nvPr/>
        </p:nvSpPr>
        <p:spPr>
          <a:xfrm>
            <a:off x="713160" y="3081600"/>
            <a:ext cx="3565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by Anthropic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5" name="Text 27"/>
          <p:cNvSpPr/>
          <p:nvPr/>
        </p:nvSpPr>
        <p:spPr>
          <a:xfrm>
            <a:off x="594360" y="361188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Designed with safety &amp; helpfulness focus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6" name="Shape 28"/>
          <p:cNvSpPr/>
          <p:nvPr/>
        </p:nvSpPr>
        <p:spPr>
          <a:xfrm>
            <a:off x="438840" y="3740040"/>
            <a:ext cx="90360" cy="90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29"/>
          <p:cNvSpPr/>
          <p:nvPr/>
        </p:nvSpPr>
        <p:spPr>
          <a:xfrm>
            <a:off x="594360" y="406908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200K context window (industry-leading)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8" name="Shape 30"/>
          <p:cNvSpPr/>
          <p:nvPr/>
        </p:nvSpPr>
        <p:spPr>
          <a:xfrm>
            <a:off x="438840" y="4197240"/>
            <a:ext cx="90360" cy="90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31"/>
          <p:cNvSpPr/>
          <p:nvPr/>
        </p:nvSpPr>
        <p:spPr>
          <a:xfrm>
            <a:off x="594360" y="452628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Claude 3 Opus rivals GPT-4 performance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0" name="Shape 32"/>
          <p:cNvSpPr/>
          <p:nvPr/>
        </p:nvSpPr>
        <p:spPr>
          <a:xfrm>
            <a:off x="438840" y="4654440"/>
            <a:ext cx="90360" cy="90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Shape 33"/>
          <p:cNvSpPr/>
          <p:nvPr/>
        </p:nvSpPr>
        <p:spPr>
          <a:xfrm>
            <a:off x="4709160" y="3081600"/>
            <a:ext cx="4113720" cy="1992240"/>
          </a:xfrm>
          <a:prstGeom prst="rect">
            <a:avLst/>
          </a:prstGeom>
          <a:solidFill>
            <a:srgbClr val="12122e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2" name="Shape 34"/>
          <p:cNvSpPr/>
          <p:nvPr/>
        </p:nvSpPr>
        <p:spPr>
          <a:xfrm>
            <a:off x="4709160" y="3081600"/>
            <a:ext cx="4113720" cy="38304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53" name="Image 3" descr="preencoded.png"/>
          <p:cNvPicPr/>
          <p:nvPr/>
        </p:nvPicPr>
        <p:blipFill>
          <a:blip r:embed="rId4"/>
          <a:stretch/>
        </p:blipFill>
        <p:spPr>
          <a:xfrm>
            <a:off x="4800600" y="3136320"/>
            <a:ext cx="273240" cy="273240"/>
          </a:xfrm>
          <a:prstGeom prst="rect">
            <a:avLst/>
          </a:prstGeom>
          <a:ln w="0">
            <a:noFill/>
          </a:ln>
        </p:spPr>
      </p:pic>
      <p:sp>
        <p:nvSpPr>
          <p:cNvPr id="354" name="Text 35"/>
          <p:cNvSpPr/>
          <p:nvPr/>
        </p:nvSpPr>
        <p:spPr>
          <a:xfrm>
            <a:off x="5148000" y="311796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DALL-E / Midjourney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55" name="Text 36"/>
          <p:cNvSpPr/>
          <p:nvPr/>
        </p:nvSpPr>
        <p:spPr>
          <a:xfrm>
            <a:off x="5148000" y="3081600"/>
            <a:ext cx="35650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by OpenAI / Independent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6" name="Text 37"/>
          <p:cNvSpPr/>
          <p:nvPr/>
        </p:nvSpPr>
        <p:spPr>
          <a:xfrm>
            <a:off x="5029200" y="361188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Generate photorealistic images from prompts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7" name="Shape 38"/>
          <p:cNvSpPr/>
          <p:nvPr/>
        </p:nvSpPr>
        <p:spPr>
          <a:xfrm>
            <a:off x="4873680" y="3740040"/>
            <a:ext cx="90360" cy="90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39"/>
          <p:cNvSpPr/>
          <p:nvPr/>
        </p:nvSpPr>
        <p:spPr>
          <a:xfrm>
            <a:off x="5029200" y="406908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Midjourney popular for artistic images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9" name="Shape 40"/>
          <p:cNvSpPr/>
          <p:nvPr/>
        </p:nvSpPr>
        <p:spPr>
          <a:xfrm>
            <a:off x="4873680" y="4197240"/>
            <a:ext cx="90360" cy="90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41"/>
          <p:cNvSpPr/>
          <p:nvPr/>
        </p:nvSpPr>
        <p:spPr>
          <a:xfrm>
            <a:off x="5029200" y="4526280"/>
            <a:ext cx="36108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Used in advertising, design, and media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1" name="Shape 42"/>
          <p:cNvSpPr/>
          <p:nvPr/>
        </p:nvSpPr>
        <p:spPr>
          <a:xfrm>
            <a:off x="4873680" y="4654440"/>
            <a:ext cx="90360" cy="90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Applications of Generative AI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64" name="Shape 2"/>
          <p:cNvSpPr/>
          <p:nvPr/>
        </p:nvSpPr>
        <p:spPr>
          <a:xfrm>
            <a:off x="365760" y="713160"/>
            <a:ext cx="182772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Shape 3"/>
          <p:cNvSpPr/>
          <p:nvPr/>
        </p:nvSpPr>
        <p:spPr>
          <a:xfrm>
            <a:off x="274320" y="841320"/>
            <a:ext cx="2742120" cy="191916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66" name="Image 0" descr="preencoded.png"/>
          <p:cNvPicPr/>
          <p:nvPr/>
        </p:nvPicPr>
        <p:blipFill>
          <a:blip r:embed="rId1"/>
          <a:stretch/>
        </p:blipFill>
        <p:spPr>
          <a:xfrm>
            <a:off x="365760" y="91440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367" name="Text 4"/>
          <p:cNvSpPr/>
          <p:nvPr/>
        </p:nvSpPr>
        <p:spPr>
          <a:xfrm>
            <a:off x="841320" y="932760"/>
            <a:ext cx="208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DejaVu Sans"/>
              </a:rPr>
              <a:t>Healthcare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8" name="Shape 5"/>
          <p:cNvSpPr/>
          <p:nvPr/>
        </p:nvSpPr>
        <p:spPr>
          <a:xfrm>
            <a:off x="438840" y="1499760"/>
            <a:ext cx="72000" cy="218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Text 6"/>
          <p:cNvSpPr/>
          <p:nvPr/>
        </p:nvSpPr>
        <p:spPr>
          <a:xfrm>
            <a:off x="585360" y="146304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Drug discovery &amp; molecule generation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0" name="Shape 7"/>
          <p:cNvSpPr/>
          <p:nvPr/>
        </p:nvSpPr>
        <p:spPr>
          <a:xfrm>
            <a:off x="438840" y="1883520"/>
            <a:ext cx="72000" cy="218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8"/>
          <p:cNvSpPr/>
          <p:nvPr/>
        </p:nvSpPr>
        <p:spPr>
          <a:xfrm>
            <a:off x="585360" y="184716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Medical report summarisation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2" name="Shape 9"/>
          <p:cNvSpPr/>
          <p:nvPr/>
        </p:nvSpPr>
        <p:spPr>
          <a:xfrm>
            <a:off x="438840" y="2267640"/>
            <a:ext cx="72000" cy="218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10"/>
          <p:cNvSpPr/>
          <p:nvPr/>
        </p:nvSpPr>
        <p:spPr>
          <a:xfrm>
            <a:off x="585360" y="223128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AI-assisted diagnosis &amp; imaging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4" name="Shape 11"/>
          <p:cNvSpPr/>
          <p:nvPr/>
        </p:nvSpPr>
        <p:spPr>
          <a:xfrm>
            <a:off x="3218760" y="841320"/>
            <a:ext cx="2742120" cy="191916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75" name="Image 1" descr="preencoded.png"/>
          <p:cNvPicPr/>
          <p:nvPr/>
        </p:nvPicPr>
        <p:blipFill>
          <a:blip r:embed="rId2"/>
          <a:stretch/>
        </p:blipFill>
        <p:spPr>
          <a:xfrm>
            <a:off x="3310200" y="91440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376" name="Text 12"/>
          <p:cNvSpPr/>
          <p:nvPr/>
        </p:nvSpPr>
        <p:spPr>
          <a:xfrm>
            <a:off x="3785760" y="932760"/>
            <a:ext cx="208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  <a:ea typeface="DejaVu Sans"/>
              </a:rPr>
              <a:t>Education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7" name="Shape 13"/>
          <p:cNvSpPr/>
          <p:nvPr/>
        </p:nvSpPr>
        <p:spPr>
          <a:xfrm>
            <a:off x="3383280" y="1499760"/>
            <a:ext cx="72000" cy="218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14"/>
          <p:cNvSpPr/>
          <p:nvPr/>
        </p:nvSpPr>
        <p:spPr>
          <a:xfrm>
            <a:off x="3529440" y="146304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Personalised tutoring (Khan Academy AI)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9" name="Shape 15"/>
          <p:cNvSpPr/>
          <p:nvPr/>
        </p:nvSpPr>
        <p:spPr>
          <a:xfrm>
            <a:off x="3383280" y="1883520"/>
            <a:ext cx="72000" cy="218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Text 16"/>
          <p:cNvSpPr/>
          <p:nvPr/>
        </p:nvSpPr>
        <p:spPr>
          <a:xfrm>
            <a:off x="3529440" y="184716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Automatic content &amp; quiz generation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1" name="Shape 17"/>
          <p:cNvSpPr/>
          <p:nvPr/>
        </p:nvSpPr>
        <p:spPr>
          <a:xfrm>
            <a:off x="3383280" y="2267640"/>
            <a:ext cx="72000" cy="218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18"/>
          <p:cNvSpPr/>
          <p:nvPr/>
        </p:nvSpPr>
        <p:spPr>
          <a:xfrm>
            <a:off x="3529440" y="223128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Language learning with AI conversation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3" name="Shape 19"/>
          <p:cNvSpPr/>
          <p:nvPr/>
        </p:nvSpPr>
        <p:spPr>
          <a:xfrm>
            <a:off x="6163200" y="841320"/>
            <a:ext cx="2742120" cy="191916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84" name="Image 2" descr="preencoded.png"/>
          <p:cNvPicPr/>
          <p:nvPr/>
        </p:nvPicPr>
        <p:blipFill>
          <a:blip r:embed="rId3"/>
          <a:stretch/>
        </p:blipFill>
        <p:spPr>
          <a:xfrm>
            <a:off x="6254640" y="91440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385" name="Text 20"/>
          <p:cNvSpPr/>
          <p:nvPr/>
        </p:nvSpPr>
        <p:spPr>
          <a:xfrm>
            <a:off x="6729840" y="932760"/>
            <a:ext cx="208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855f7"/>
                </a:solidFill>
                <a:latin typeface="Calibri"/>
                <a:ea typeface="DejaVu Sans"/>
              </a:rPr>
              <a:t>Creative Arts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6" name="Shape 21"/>
          <p:cNvSpPr/>
          <p:nvPr/>
        </p:nvSpPr>
        <p:spPr>
          <a:xfrm>
            <a:off x="6327720" y="1499760"/>
            <a:ext cx="72000" cy="218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Text 22"/>
          <p:cNvSpPr/>
          <p:nvPr/>
        </p:nvSpPr>
        <p:spPr>
          <a:xfrm>
            <a:off x="6473880" y="146304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AI-generated artwork, music, and film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8" name="Shape 23"/>
          <p:cNvSpPr/>
          <p:nvPr/>
        </p:nvSpPr>
        <p:spPr>
          <a:xfrm>
            <a:off x="6327720" y="1883520"/>
            <a:ext cx="72000" cy="218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 24"/>
          <p:cNvSpPr/>
          <p:nvPr/>
        </p:nvSpPr>
        <p:spPr>
          <a:xfrm>
            <a:off x="6473880" y="184716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Script writing and story generation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0" name="Shape 25"/>
          <p:cNvSpPr/>
          <p:nvPr/>
        </p:nvSpPr>
        <p:spPr>
          <a:xfrm>
            <a:off x="6327720" y="2267640"/>
            <a:ext cx="72000" cy="218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26"/>
          <p:cNvSpPr/>
          <p:nvPr/>
        </p:nvSpPr>
        <p:spPr>
          <a:xfrm>
            <a:off x="6473880" y="223128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Game asset &amp; 3D model creation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2" name="Shape 27"/>
          <p:cNvSpPr/>
          <p:nvPr/>
        </p:nvSpPr>
        <p:spPr>
          <a:xfrm>
            <a:off x="274320" y="2990160"/>
            <a:ext cx="2742120" cy="1919160"/>
          </a:xfrm>
          <a:prstGeom prst="rect">
            <a:avLst/>
          </a:prstGeom>
          <a:solidFill>
            <a:srgbClr val="12122e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93" name="Image 3" descr="preencoded.png"/>
          <p:cNvPicPr/>
          <p:nvPr/>
        </p:nvPicPr>
        <p:blipFill>
          <a:blip r:embed="rId4"/>
          <a:stretch/>
        </p:blipFill>
        <p:spPr>
          <a:xfrm>
            <a:off x="365760" y="306324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394" name="Text 28"/>
          <p:cNvSpPr/>
          <p:nvPr/>
        </p:nvSpPr>
        <p:spPr>
          <a:xfrm>
            <a:off x="841320" y="3081600"/>
            <a:ext cx="208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  <a:ea typeface="DejaVu Sans"/>
              </a:rPr>
              <a:t>Software Dev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5" name="Shape 29"/>
          <p:cNvSpPr/>
          <p:nvPr/>
        </p:nvSpPr>
        <p:spPr>
          <a:xfrm>
            <a:off x="438840" y="3648600"/>
            <a:ext cx="72000" cy="218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30"/>
          <p:cNvSpPr/>
          <p:nvPr/>
        </p:nvSpPr>
        <p:spPr>
          <a:xfrm>
            <a:off x="585360" y="361188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Code auto-completion (GitHub Copilot)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7" name="Shape 31"/>
          <p:cNvSpPr/>
          <p:nvPr/>
        </p:nvSpPr>
        <p:spPr>
          <a:xfrm>
            <a:off x="438840" y="4032360"/>
            <a:ext cx="72000" cy="218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32"/>
          <p:cNvSpPr/>
          <p:nvPr/>
        </p:nvSpPr>
        <p:spPr>
          <a:xfrm>
            <a:off x="585360" y="399600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Bug detection and automated testing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9" name="Shape 33"/>
          <p:cNvSpPr/>
          <p:nvPr/>
        </p:nvSpPr>
        <p:spPr>
          <a:xfrm>
            <a:off x="438840" y="4416480"/>
            <a:ext cx="72000" cy="218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Text 34"/>
          <p:cNvSpPr/>
          <p:nvPr/>
        </p:nvSpPr>
        <p:spPr>
          <a:xfrm>
            <a:off x="585360" y="438012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Documentation generation from code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1" name="Shape 35"/>
          <p:cNvSpPr/>
          <p:nvPr/>
        </p:nvSpPr>
        <p:spPr>
          <a:xfrm>
            <a:off x="3218760" y="2990160"/>
            <a:ext cx="2742120" cy="191916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02" name="Image 4" descr="preencoded.png"/>
          <p:cNvPicPr/>
          <p:nvPr/>
        </p:nvPicPr>
        <p:blipFill>
          <a:blip r:embed="rId5"/>
          <a:stretch/>
        </p:blipFill>
        <p:spPr>
          <a:xfrm>
            <a:off x="3310200" y="306324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403" name="Text 36"/>
          <p:cNvSpPr/>
          <p:nvPr/>
        </p:nvSpPr>
        <p:spPr>
          <a:xfrm>
            <a:off x="3785760" y="3081600"/>
            <a:ext cx="208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DejaVu Sans"/>
              </a:rPr>
              <a:t>Business &amp; Finance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4" name="Shape 37"/>
          <p:cNvSpPr/>
          <p:nvPr/>
        </p:nvSpPr>
        <p:spPr>
          <a:xfrm>
            <a:off x="3383280" y="3648600"/>
            <a:ext cx="72000" cy="218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38"/>
          <p:cNvSpPr/>
          <p:nvPr/>
        </p:nvSpPr>
        <p:spPr>
          <a:xfrm>
            <a:off x="3529440" y="361188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Automated report &amp; email drafting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6" name="Shape 39"/>
          <p:cNvSpPr/>
          <p:nvPr/>
        </p:nvSpPr>
        <p:spPr>
          <a:xfrm>
            <a:off x="3383280" y="4032360"/>
            <a:ext cx="72000" cy="218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40"/>
          <p:cNvSpPr/>
          <p:nvPr/>
        </p:nvSpPr>
        <p:spPr>
          <a:xfrm>
            <a:off x="3529440" y="399600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Financial analysis and forecasting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8" name="Shape 41"/>
          <p:cNvSpPr/>
          <p:nvPr/>
        </p:nvSpPr>
        <p:spPr>
          <a:xfrm>
            <a:off x="3383280" y="4416480"/>
            <a:ext cx="72000" cy="218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Text 42"/>
          <p:cNvSpPr/>
          <p:nvPr/>
        </p:nvSpPr>
        <p:spPr>
          <a:xfrm>
            <a:off x="3529440" y="438012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Customer service chatbots (24/7)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0" name="Shape 43"/>
          <p:cNvSpPr/>
          <p:nvPr/>
        </p:nvSpPr>
        <p:spPr>
          <a:xfrm>
            <a:off x="6163200" y="2990160"/>
            <a:ext cx="2742120" cy="191916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11" name="Image 5" descr="preencoded.png"/>
          <p:cNvPicPr/>
          <p:nvPr/>
        </p:nvPicPr>
        <p:blipFill>
          <a:blip r:embed="rId6"/>
          <a:stretch/>
        </p:blipFill>
        <p:spPr>
          <a:xfrm>
            <a:off x="6254640" y="3063240"/>
            <a:ext cx="410400" cy="410400"/>
          </a:xfrm>
          <a:prstGeom prst="rect">
            <a:avLst/>
          </a:prstGeom>
          <a:ln w="0">
            <a:noFill/>
          </a:ln>
        </p:spPr>
      </p:pic>
      <p:sp>
        <p:nvSpPr>
          <p:cNvPr id="412" name="Text 44"/>
          <p:cNvSpPr/>
          <p:nvPr/>
        </p:nvSpPr>
        <p:spPr>
          <a:xfrm>
            <a:off x="6729840" y="3081600"/>
            <a:ext cx="2083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  <a:ea typeface="DejaVu Sans"/>
              </a:rPr>
              <a:t>Research &amp; Science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3" name="Shape 45"/>
          <p:cNvSpPr/>
          <p:nvPr/>
        </p:nvSpPr>
        <p:spPr>
          <a:xfrm>
            <a:off x="6327720" y="3648600"/>
            <a:ext cx="72000" cy="218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Text 46"/>
          <p:cNvSpPr/>
          <p:nvPr/>
        </p:nvSpPr>
        <p:spPr>
          <a:xfrm>
            <a:off x="6473880" y="361188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AlphaFold predicts protein structures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5" name="Shape 47"/>
          <p:cNvSpPr/>
          <p:nvPr/>
        </p:nvSpPr>
        <p:spPr>
          <a:xfrm>
            <a:off x="6327720" y="4032360"/>
            <a:ext cx="72000" cy="218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Text 48"/>
          <p:cNvSpPr/>
          <p:nvPr/>
        </p:nvSpPr>
        <p:spPr>
          <a:xfrm>
            <a:off x="6473880" y="399600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Literature summarisation at scale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7" name="Shape 49"/>
          <p:cNvSpPr/>
          <p:nvPr/>
        </p:nvSpPr>
        <p:spPr>
          <a:xfrm>
            <a:off x="6327720" y="4416480"/>
            <a:ext cx="72000" cy="218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50"/>
          <p:cNvSpPr/>
          <p:nvPr/>
        </p:nvSpPr>
        <p:spPr>
          <a:xfrm>
            <a:off x="6473880" y="4380120"/>
            <a:ext cx="2330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Hypothesis generation and data analysis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Text Generation with LLMs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21" name="Shape 2"/>
          <p:cNvSpPr/>
          <p:nvPr/>
        </p:nvSpPr>
        <p:spPr>
          <a:xfrm>
            <a:off x="365760" y="713160"/>
            <a:ext cx="173628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Shape 3"/>
          <p:cNvSpPr/>
          <p:nvPr/>
        </p:nvSpPr>
        <p:spPr>
          <a:xfrm>
            <a:off x="320040" y="841320"/>
            <a:ext cx="4113720" cy="400392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3" name="Text 4"/>
          <p:cNvSpPr/>
          <p:nvPr/>
        </p:nvSpPr>
        <p:spPr>
          <a:xfrm>
            <a:off x="457200" y="93276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Calibri"/>
                <a:ea typeface="DejaVu Sans"/>
              </a:rPr>
              <a:t>How LLMs Generate Text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24" name="Shape 5"/>
          <p:cNvSpPr/>
          <p:nvPr/>
        </p:nvSpPr>
        <p:spPr>
          <a:xfrm>
            <a:off x="457200" y="1389960"/>
            <a:ext cx="291600" cy="2916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6"/>
          <p:cNvSpPr/>
          <p:nvPr/>
        </p:nvSpPr>
        <p:spPr>
          <a:xfrm>
            <a:off x="457200" y="138996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DejaVu Sans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6" name="Text 7"/>
          <p:cNvSpPr/>
          <p:nvPr/>
        </p:nvSpPr>
        <p:spPr>
          <a:xfrm>
            <a:off x="822960" y="138996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Input prompt tokenised into integer IDs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7" name="Shape 8"/>
          <p:cNvSpPr/>
          <p:nvPr/>
        </p:nvSpPr>
        <p:spPr>
          <a:xfrm>
            <a:off x="457200" y="1865520"/>
            <a:ext cx="291600" cy="2916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Text 9"/>
          <p:cNvSpPr/>
          <p:nvPr/>
        </p:nvSpPr>
        <p:spPr>
          <a:xfrm>
            <a:off x="457200" y="186552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DejaVu Sans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9" name="Text 10"/>
          <p:cNvSpPr/>
          <p:nvPr/>
        </p:nvSpPr>
        <p:spPr>
          <a:xfrm>
            <a:off x="822960" y="186552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Tokens passed through embedding layer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0" name="Shape 11"/>
          <p:cNvSpPr/>
          <p:nvPr/>
        </p:nvSpPr>
        <p:spPr>
          <a:xfrm>
            <a:off x="457200" y="2340720"/>
            <a:ext cx="291600" cy="2916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12"/>
          <p:cNvSpPr/>
          <p:nvPr/>
        </p:nvSpPr>
        <p:spPr>
          <a:xfrm>
            <a:off x="457200" y="234072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DejaVu Sans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2" name="Text 13"/>
          <p:cNvSpPr/>
          <p:nvPr/>
        </p:nvSpPr>
        <p:spPr>
          <a:xfrm>
            <a:off x="822960" y="234072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Transformer layers apply self-attention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3" name="Shape 14"/>
          <p:cNvSpPr/>
          <p:nvPr/>
        </p:nvSpPr>
        <p:spPr>
          <a:xfrm>
            <a:off x="457200" y="2816280"/>
            <a:ext cx="291600" cy="2916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Text 15"/>
          <p:cNvSpPr/>
          <p:nvPr/>
        </p:nvSpPr>
        <p:spPr>
          <a:xfrm>
            <a:off x="457200" y="281628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DejaVu Sans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5" name="Text 16"/>
          <p:cNvSpPr/>
          <p:nvPr/>
        </p:nvSpPr>
        <p:spPr>
          <a:xfrm>
            <a:off x="822960" y="281628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Output layer produces probability distribution over vocabulary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6" name="Shape 17"/>
          <p:cNvSpPr/>
          <p:nvPr/>
        </p:nvSpPr>
        <p:spPr>
          <a:xfrm>
            <a:off x="457200" y="3291840"/>
            <a:ext cx="291600" cy="2916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Text 18"/>
          <p:cNvSpPr/>
          <p:nvPr/>
        </p:nvSpPr>
        <p:spPr>
          <a:xfrm>
            <a:off x="457200" y="329184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DejaVu Sans"/>
              </a:rPr>
              <a:t>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8" name="Text 19"/>
          <p:cNvSpPr/>
          <p:nvPr/>
        </p:nvSpPr>
        <p:spPr>
          <a:xfrm>
            <a:off x="822960" y="329184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Highest-probability token sampled iteratively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39" name="Shape 20"/>
          <p:cNvSpPr/>
          <p:nvPr/>
        </p:nvSpPr>
        <p:spPr>
          <a:xfrm>
            <a:off x="457200" y="3767400"/>
            <a:ext cx="291600" cy="2916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Text 21"/>
          <p:cNvSpPr/>
          <p:nvPr/>
        </p:nvSpPr>
        <p:spPr>
          <a:xfrm>
            <a:off x="457200" y="3767400"/>
            <a:ext cx="291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DejaVu Sans"/>
              </a:rPr>
              <a:t>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1" name="Text 22"/>
          <p:cNvSpPr/>
          <p:nvPr/>
        </p:nvSpPr>
        <p:spPr>
          <a:xfrm>
            <a:off x="822960" y="3767400"/>
            <a:ext cx="3427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Process repeats until completion token reached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2" name="Shape 23"/>
          <p:cNvSpPr/>
          <p:nvPr/>
        </p:nvSpPr>
        <p:spPr>
          <a:xfrm>
            <a:off x="4709160" y="841320"/>
            <a:ext cx="4113720" cy="400392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3" name="Text 24"/>
          <p:cNvSpPr/>
          <p:nvPr/>
        </p:nvSpPr>
        <p:spPr>
          <a:xfrm>
            <a:off x="4846320" y="93276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d3ee"/>
                </a:solidFill>
                <a:latin typeface="Calibri"/>
                <a:ea typeface="DejaVu Sans"/>
              </a:rPr>
              <a:t>Real-World Use Cases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444" name="Image 0" descr="preencoded.png"/>
          <p:cNvPicPr/>
          <p:nvPr/>
        </p:nvPicPr>
        <p:blipFill>
          <a:blip r:embed="rId1"/>
          <a:stretch/>
        </p:blipFill>
        <p:spPr>
          <a:xfrm>
            <a:off x="4827960" y="138996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45" name="Text 25"/>
          <p:cNvSpPr/>
          <p:nvPr/>
        </p:nvSpPr>
        <p:spPr>
          <a:xfrm>
            <a:off x="5257800" y="1389960"/>
            <a:ext cx="3290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Chatbots &amp; Assistants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6" name="Text 26"/>
          <p:cNvSpPr/>
          <p:nvPr/>
        </p:nvSpPr>
        <p:spPr>
          <a:xfrm>
            <a:off x="5257800" y="166428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Customer support, virtual assistants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447" name="Image 1" descr="preencoded.png"/>
          <p:cNvPicPr/>
          <p:nvPr/>
        </p:nvPicPr>
        <p:blipFill>
          <a:blip r:embed="rId2"/>
          <a:stretch/>
        </p:blipFill>
        <p:spPr>
          <a:xfrm>
            <a:off x="4827960" y="20116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48" name="Text 27"/>
          <p:cNvSpPr/>
          <p:nvPr/>
        </p:nvSpPr>
        <p:spPr>
          <a:xfrm>
            <a:off x="5257800" y="2011680"/>
            <a:ext cx="3290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Content Creation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9" name="Text 28"/>
          <p:cNvSpPr/>
          <p:nvPr/>
        </p:nvSpPr>
        <p:spPr>
          <a:xfrm>
            <a:off x="5257800" y="228600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Articles, blogs, marketing copy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450" name="Image 2" descr="preencoded.png"/>
          <p:cNvPicPr/>
          <p:nvPr/>
        </p:nvPicPr>
        <p:blipFill>
          <a:blip r:embed="rId3"/>
          <a:stretch/>
        </p:blipFill>
        <p:spPr>
          <a:xfrm>
            <a:off x="4827960" y="263340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51" name="Text 29"/>
          <p:cNvSpPr/>
          <p:nvPr/>
        </p:nvSpPr>
        <p:spPr>
          <a:xfrm>
            <a:off x="5257800" y="2633400"/>
            <a:ext cx="3290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Code Generation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2" name="Text 30"/>
          <p:cNvSpPr/>
          <p:nvPr/>
        </p:nvSpPr>
        <p:spPr>
          <a:xfrm>
            <a:off x="5257800" y="290772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GitHub Copilot, code review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453" name="Image 3" descr="preencoded.png"/>
          <p:cNvPicPr/>
          <p:nvPr/>
        </p:nvPicPr>
        <p:blipFill>
          <a:blip r:embed="rId4"/>
          <a:stretch/>
        </p:blipFill>
        <p:spPr>
          <a:xfrm>
            <a:off x="4827960" y="325512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54" name="Text 31"/>
          <p:cNvSpPr/>
          <p:nvPr/>
        </p:nvSpPr>
        <p:spPr>
          <a:xfrm>
            <a:off x="5257800" y="3255120"/>
            <a:ext cx="3290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Summarisation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5" name="Text 32"/>
          <p:cNvSpPr/>
          <p:nvPr/>
        </p:nvSpPr>
        <p:spPr>
          <a:xfrm>
            <a:off x="5257800" y="352944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Research papers, legal docs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456" name="Image 4" descr="preencoded.png"/>
          <p:cNvPicPr/>
          <p:nvPr/>
        </p:nvPicPr>
        <p:blipFill>
          <a:blip r:embed="rId5"/>
          <a:stretch/>
        </p:blipFill>
        <p:spPr>
          <a:xfrm>
            <a:off x="4827960" y="387720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57" name="Text 33"/>
          <p:cNvSpPr/>
          <p:nvPr/>
        </p:nvSpPr>
        <p:spPr>
          <a:xfrm>
            <a:off x="5257800" y="3877200"/>
            <a:ext cx="3290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Translation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8" name="Text 34"/>
          <p:cNvSpPr/>
          <p:nvPr/>
        </p:nvSpPr>
        <p:spPr>
          <a:xfrm>
            <a:off x="5257800" y="415152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  <a:ea typeface="Calibri"/>
              </a:rPr>
              <a:t>100+ languages with near-human quality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Image &amp; Multimodal Generation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61" name="Shape 2"/>
          <p:cNvSpPr/>
          <p:nvPr/>
        </p:nvSpPr>
        <p:spPr>
          <a:xfrm>
            <a:off x="365760" y="713160"/>
            <a:ext cx="182772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Shape 3"/>
          <p:cNvSpPr/>
          <p:nvPr/>
        </p:nvSpPr>
        <p:spPr>
          <a:xfrm>
            <a:off x="274320" y="841320"/>
            <a:ext cx="41137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3" name="Shape 4"/>
          <p:cNvSpPr/>
          <p:nvPr/>
        </p:nvSpPr>
        <p:spPr>
          <a:xfrm>
            <a:off x="274320" y="841320"/>
            <a:ext cx="4113720" cy="45612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64" name="Image 0" descr="preencoded.png"/>
          <p:cNvPicPr/>
          <p:nvPr/>
        </p:nvPicPr>
        <p:blipFill>
          <a:blip r:embed="rId1"/>
          <a:stretch/>
        </p:blipFill>
        <p:spPr>
          <a:xfrm>
            <a:off x="365760" y="92340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465" name="Text 5"/>
          <p:cNvSpPr/>
          <p:nvPr/>
        </p:nvSpPr>
        <p:spPr>
          <a:xfrm>
            <a:off x="749880" y="90540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Text → Image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66" name="Text 6"/>
          <p:cNvSpPr/>
          <p:nvPr/>
        </p:nvSpPr>
        <p:spPr>
          <a:xfrm>
            <a:off x="411480" y="1389960"/>
            <a:ext cx="38394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DALL-E 3, Midjourney, Stable Diffusion generate photorealistic images from text prompts using diffusion models.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67" name="Shape 7"/>
          <p:cNvSpPr/>
          <p:nvPr/>
        </p:nvSpPr>
        <p:spPr>
          <a:xfrm>
            <a:off x="4709160" y="841320"/>
            <a:ext cx="41137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8" name="Shape 8"/>
          <p:cNvSpPr/>
          <p:nvPr/>
        </p:nvSpPr>
        <p:spPr>
          <a:xfrm>
            <a:off x="4709160" y="841320"/>
            <a:ext cx="4113720" cy="456120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69" name="Image 1" descr="preencoded.png"/>
          <p:cNvPicPr/>
          <p:nvPr/>
        </p:nvPicPr>
        <p:blipFill>
          <a:blip r:embed="rId2"/>
          <a:stretch/>
        </p:blipFill>
        <p:spPr>
          <a:xfrm>
            <a:off x="4800600" y="92340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470" name="Text 9"/>
          <p:cNvSpPr/>
          <p:nvPr/>
        </p:nvSpPr>
        <p:spPr>
          <a:xfrm>
            <a:off x="5184720" y="90540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Text → Video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71" name="Text 10"/>
          <p:cNvSpPr/>
          <p:nvPr/>
        </p:nvSpPr>
        <p:spPr>
          <a:xfrm>
            <a:off x="4846320" y="1389960"/>
            <a:ext cx="38394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Sora (OpenAI), Runway Gen-2 create coherent video clips from text descriptions up to 60 seconds.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72" name="Shape 11"/>
          <p:cNvSpPr/>
          <p:nvPr/>
        </p:nvSpPr>
        <p:spPr>
          <a:xfrm>
            <a:off x="274320" y="3054240"/>
            <a:ext cx="41137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3" name="Shape 12"/>
          <p:cNvSpPr/>
          <p:nvPr/>
        </p:nvSpPr>
        <p:spPr>
          <a:xfrm>
            <a:off x="274320" y="3054240"/>
            <a:ext cx="4113720" cy="45612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74" name="Image 2" descr="preencoded.png"/>
          <p:cNvPicPr/>
          <p:nvPr/>
        </p:nvPicPr>
        <p:blipFill>
          <a:blip r:embed="rId3"/>
          <a:stretch/>
        </p:blipFill>
        <p:spPr>
          <a:xfrm>
            <a:off x="365760" y="313632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475" name="Text 13"/>
          <p:cNvSpPr/>
          <p:nvPr/>
        </p:nvSpPr>
        <p:spPr>
          <a:xfrm>
            <a:off x="749880" y="311796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Text → Audio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76" name="Text 14"/>
          <p:cNvSpPr/>
          <p:nvPr/>
        </p:nvSpPr>
        <p:spPr>
          <a:xfrm>
            <a:off x="411480" y="3602880"/>
            <a:ext cx="38394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ElevenLabs, MusicLM, Suno AI generate realistic voices, music compositions, and sound effects.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77" name="Shape 15"/>
          <p:cNvSpPr/>
          <p:nvPr/>
        </p:nvSpPr>
        <p:spPr>
          <a:xfrm>
            <a:off x="4709160" y="3054240"/>
            <a:ext cx="4113720" cy="1964880"/>
          </a:xfrm>
          <a:prstGeom prst="rect">
            <a:avLst/>
          </a:prstGeom>
          <a:solidFill>
            <a:srgbClr val="12122e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8" name="Shape 16"/>
          <p:cNvSpPr/>
          <p:nvPr/>
        </p:nvSpPr>
        <p:spPr>
          <a:xfrm>
            <a:off x="4709160" y="3054240"/>
            <a:ext cx="4113720" cy="4561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79" name="Image 3" descr="preencoded.png"/>
          <p:cNvPicPr/>
          <p:nvPr/>
        </p:nvPicPr>
        <p:blipFill>
          <a:blip r:embed="rId4"/>
          <a:stretch/>
        </p:blipFill>
        <p:spPr>
          <a:xfrm>
            <a:off x="4800600" y="313632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480" name="Text 17"/>
          <p:cNvSpPr/>
          <p:nvPr/>
        </p:nvSpPr>
        <p:spPr>
          <a:xfrm>
            <a:off x="5184720" y="311796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DejaVu Sans"/>
              </a:rPr>
              <a:t>Image → Text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81" name="Text 18"/>
          <p:cNvSpPr/>
          <p:nvPr/>
        </p:nvSpPr>
        <p:spPr>
          <a:xfrm>
            <a:off x="4846320" y="3602880"/>
            <a:ext cx="38394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GPT-4V, Gemini Vision describe, analyse, and answer questions about uploaded images.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Advantages of Generative AI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84" name="Shape 2"/>
          <p:cNvSpPr/>
          <p:nvPr/>
        </p:nvSpPr>
        <p:spPr>
          <a:xfrm>
            <a:off x="365760" y="713160"/>
            <a:ext cx="182772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Shape 3"/>
          <p:cNvSpPr/>
          <p:nvPr/>
        </p:nvSpPr>
        <p:spPr>
          <a:xfrm>
            <a:off x="274320" y="841320"/>
            <a:ext cx="2742120" cy="18734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86" name="Image 0" descr="preencoded.png"/>
          <p:cNvPicPr/>
          <p:nvPr/>
        </p:nvPicPr>
        <p:blipFill>
          <a:blip r:embed="rId1"/>
          <a:stretch/>
        </p:blipFill>
        <p:spPr>
          <a:xfrm>
            <a:off x="365760" y="9511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487" name="Text 4"/>
          <p:cNvSpPr/>
          <p:nvPr/>
        </p:nvSpPr>
        <p:spPr>
          <a:xfrm>
            <a:off x="914400" y="96912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Calibri"/>
                <a:ea typeface="DejaVu Sans"/>
              </a:rPr>
              <a:t>Productivity Boost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88" name="Text 5"/>
          <p:cNvSpPr/>
          <p:nvPr/>
        </p:nvSpPr>
        <p:spPr>
          <a:xfrm>
            <a:off x="365760" y="1527120"/>
            <a:ext cx="255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Automates repetitive content and coding tasks, freeing human creativity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89" name="Shape 6"/>
          <p:cNvSpPr/>
          <p:nvPr/>
        </p:nvSpPr>
        <p:spPr>
          <a:xfrm>
            <a:off x="3218760" y="841320"/>
            <a:ext cx="2742120" cy="18734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90" name="Image 1" descr="preencoded.png"/>
          <p:cNvPicPr/>
          <p:nvPr/>
        </p:nvPicPr>
        <p:blipFill>
          <a:blip r:embed="rId2"/>
          <a:stretch/>
        </p:blipFill>
        <p:spPr>
          <a:xfrm>
            <a:off x="3310200" y="9511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491" name="Text 7"/>
          <p:cNvSpPr/>
          <p:nvPr/>
        </p:nvSpPr>
        <p:spPr>
          <a:xfrm>
            <a:off x="3858840" y="96912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Calibri"/>
                <a:ea typeface="DejaVu Sans"/>
              </a:rPr>
              <a:t>Accessibility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2" name="Text 8"/>
          <p:cNvSpPr/>
          <p:nvPr/>
        </p:nvSpPr>
        <p:spPr>
          <a:xfrm>
            <a:off x="3310200" y="1527120"/>
            <a:ext cx="255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Democratises content creation for non-experts in any field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93" name="Shape 9"/>
          <p:cNvSpPr/>
          <p:nvPr/>
        </p:nvSpPr>
        <p:spPr>
          <a:xfrm>
            <a:off x="6163200" y="841320"/>
            <a:ext cx="2742120" cy="18734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94" name="Image 2" descr="preencoded.png"/>
          <p:cNvPicPr/>
          <p:nvPr/>
        </p:nvPicPr>
        <p:blipFill>
          <a:blip r:embed="rId3"/>
          <a:stretch/>
        </p:blipFill>
        <p:spPr>
          <a:xfrm>
            <a:off x="6254640" y="9511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495" name="Text 10"/>
          <p:cNvSpPr/>
          <p:nvPr/>
        </p:nvSpPr>
        <p:spPr>
          <a:xfrm>
            <a:off x="6803280" y="96912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Calibri"/>
                <a:ea typeface="DejaVu Sans"/>
              </a:rPr>
              <a:t>Cost Reduction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6" name="Text 11"/>
          <p:cNvSpPr/>
          <p:nvPr/>
        </p:nvSpPr>
        <p:spPr>
          <a:xfrm>
            <a:off x="6254640" y="1527120"/>
            <a:ext cx="255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Reduces cost of creative, legal, and technical work by 30–80%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97" name="Shape 12"/>
          <p:cNvSpPr/>
          <p:nvPr/>
        </p:nvSpPr>
        <p:spPr>
          <a:xfrm>
            <a:off x="274320" y="2926080"/>
            <a:ext cx="2742120" cy="18734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98" name="Image 3" descr="preencoded.png"/>
          <p:cNvPicPr/>
          <p:nvPr/>
        </p:nvPicPr>
        <p:blipFill>
          <a:blip r:embed="rId4"/>
          <a:stretch/>
        </p:blipFill>
        <p:spPr>
          <a:xfrm>
            <a:off x="365760" y="303588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499" name="Text 13"/>
          <p:cNvSpPr/>
          <p:nvPr/>
        </p:nvSpPr>
        <p:spPr>
          <a:xfrm>
            <a:off x="914400" y="305424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Calibri"/>
                <a:ea typeface="DejaVu Sans"/>
              </a:rPr>
              <a:t>Personalisation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0" name="Text 14"/>
          <p:cNvSpPr/>
          <p:nvPr/>
        </p:nvSpPr>
        <p:spPr>
          <a:xfrm>
            <a:off x="365760" y="3611880"/>
            <a:ext cx="255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Generates tailored content for individual users at scale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01" name="Shape 15"/>
          <p:cNvSpPr/>
          <p:nvPr/>
        </p:nvSpPr>
        <p:spPr>
          <a:xfrm>
            <a:off x="3218760" y="2926080"/>
            <a:ext cx="2742120" cy="18734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02" name="Image 4" descr="preencoded.png"/>
          <p:cNvPicPr/>
          <p:nvPr/>
        </p:nvPicPr>
        <p:blipFill>
          <a:blip r:embed="rId5"/>
          <a:stretch/>
        </p:blipFill>
        <p:spPr>
          <a:xfrm>
            <a:off x="3310200" y="303588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03" name="Text 16"/>
          <p:cNvSpPr/>
          <p:nvPr/>
        </p:nvSpPr>
        <p:spPr>
          <a:xfrm>
            <a:off x="3858840" y="305424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Calibri"/>
                <a:ea typeface="DejaVu Sans"/>
              </a:rPr>
              <a:t>Scientific Discovery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4" name="Text 17"/>
          <p:cNvSpPr/>
          <p:nvPr/>
        </p:nvSpPr>
        <p:spPr>
          <a:xfrm>
            <a:off x="3310200" y="3611880"/>
            <a:ext cx="255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Accelerates drug discovery, material science, and research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05" name="Shape 18"/>
          <p:cNvSpPr/>
          <p:nvPr/>
        </p:nvSpPr>
        <p:spPr>
          <a:xfrm>
            <a:off x="6163200" y="2926080"/>
            <a:ext cx="2742120" cy="187344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06" name="Image 5" descr="preencoded.png"/>
          <p:cNvPicPr/>
          <p:nvPr/>
        </p:nvPicPr>
        <p:blipFill>
          <a:blip r:embed="rId6"/>
          <a:stretch/>
        </p:blipFill>
        <p:spPr>
          <a:xfrm>
            <a:off x="6254640" y="303588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07" name="Text 19"/>
          <p:cNvSpPr/>
          <p:nvPr/>
        </p:nvSpPr>
        <p:spPr>
          <a:xfrm>
            <a:off x="6803280" y="3054240"/>
            <a:ext cx="20106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Calibri"/>
                <a:ea typeface="DejaVu Sans"/>
              </a:rPr>
              <a:t>24/7 Availability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8" name="Text 20"/>
          <p:cNvSpPr/>
          <p:nvPr/>
        </p:nvSpPr>
        <p:spPr>
          <a:xfrm>
            <a:off x="6254640" y="3611880"/>
            <a:ext cx="2559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AI assistants provide round-the-clock support without fatigue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0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1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Ethical Challenges in Generative AI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11" name="Shape 2"/>
          <p:cNvSpPr/>
          <p:nvPr/>
        </p:nvSpPr>
        <p:spPr>
          <a:xfrm>
            <a:off x="365760" y="713160"/>
            <a:ext cx="191916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2" name="Shape 3"/>
          <p:cNvSpPr/>
          <p:nvPr/>
        </p:nvSpPr>
        <p:spPr>
          <a:xfrm>
            <a:off x="320040" y="868680"/>
            <a:ext cx="2742120" cy="3976560"/>
          </a:xfrm>
          <a:prstGeom prst="rect">
            <a:avLst/>
          </a:prstGeom>
          <a:solidFill>
            <a:srgbClr val="12122e"/>
          </a:solidFill>
          <a:ln w="19050">
            <a:solidFill>
              <a:srgbClr val="ef444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3" name="Shape 4"/>
          <p:cNvSpPr/>
          <p:nvPr/>
        </p:nvSpPr>
        <p:spPr>
          <a:xfrm>
            <a:off x="320040" y="868680"/>
            <a:ext cx="2742120" cy="47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5"/>
          <p:cNvSpPr/>
          <p:nvPr/>
        </p:nvSpPr>
        <p:spPr>
          <a:xfrm>
            <a:off x="777240" y="868680"/>
            <a:ext cx="2193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0612"/>
                </a:solidFill>
                <a:latin typeface="Calibri"/>
                <a:ea typeface="DejaVu Sans"/>
              </a:rPr>
              <a:t>Deepfakes &amp; Disinformation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515" name="Image 0" descr="preencoded.png"/>
          <p:cNvPicPr/>
          <p:nvPr/>
        </p:nvPicPr>
        <p:blipFill>
          <a:blip r:embed="rId1"/>
          <a:stretch/>
        </p:blipFill>
        <p:spPr>
          <a:xfrm>
            <a:off x="374760" y="914400"/>
            <a:ext cx="346320" cy="346320"/>
          </a:xfrm>
          <a:prstGeom prst="rect">
            <a:avLst/>
          </a:prstGeom>
          <a:ln w="0">
            <a:noFill/>
          </a:ln>
        </p:spPr>
      </p:pic>
      <p:pic>
        <p:nvPicPr>
          <p:cNvPr id="516" name="Image 1" descr="preencoded.png"/>
          <p:cNvPicPr/>
          <p:nvPr/>
        </p:nvPicPr>
        <p:blipFill>
          <a:blip r:embed="rId2"/>
          <a:stretch/>
        </p:blipFill>
        <p:spPr>
          <a:xfrm>
            <a:off x="1417320" y="1481400"/>
            <a:ext cx="565920" cy="565920"/>
          </a:xfrm>
          <a:prstGeom prst="rect">
            <a:avLst/>
          </a:prstGeom>
          <a:ln w="0">
            <a:noFill/>
          </a:ln>
        </p:spPr>
      </p:pic>
      <p:sp>
        <p:nvSpPr>
          <p:cNvPr id="517" name="Shape 6"/>
          <p:cNvSpPr/>
          <p:nvPr/>
        </p:nvSpPr>
        <p:spPr>
          <a:xfrm>
            <a:off x="484560" y="2267640"/>
            <a:ext cx="72000" cy="50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Text 7"/>
          <p:cNvSpPr/>
          <p:nvPr/>
        </p:nvSpPr>
        <p:spPr>
          <a:xfrm>
            <a:off x="640080" y="2267640"/>
            <a:ext cx="2284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Synthetic media used to impersonate public figures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19" name="Shape 8"/>
          <p:cNvSpPr/>
          <p:nvPr/>
        </p:nvSpPr>
        <p:spPr>
          <a:xfrm>
            <a:off x="484560" y="3044880"/>
            <a:ext cx="72000" cy="50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Text 9"/>
          <p:cNvSpPr/>
          <p:nvPr/>
        </p:nvSpPr>
        <p:spPr>
          <a:xfrm>
            <a:off x="640080" y="3044880"/>
            <a:ext cx="2284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Election interference and fake news at scale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21" name="Shape 10"/>
          <p:cNvSpPr/>
          <p:nvPr/>
        </p:nvSpPr>
        <p:spPr>
          <a:xfrm>
            <a:off x="484560" y="3822120"/>
            <a:ext cx="72000" cy="50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Text 11"/>
          <p:cNvSpPr/>
          <p:nvPr/>
        </p:nvSpPr>
        <p:spPr>
          <a:xfrm>
            <a:off x="640080" y="3822120"/>
            <a:ext cx="2284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Requires detection tools and regulatory frameworks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23" name="Shape 12"/>
          <p:cNvSpPr/>
          <p:nvPr/>
        </p:nvSpPr>
        <p:spPr>
          <a:xfrm>
            <a:off x="3264480" y="868680"/>
            <a:ext cx="2742120" cy="3976560"/>
          </a:xfrm>
          <a:prstGeom prst="rect">
            <a:avLst/>
          </a:prstGeom>
          <a:solidFill>
            <a:srgbClr val="12122e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4" name="Shape 13"/>
          <p:cNvSpPr/>
          <p:nvPr/>
        </p:nvSpPr>
        <p:spPr>
          <a:xfrm>
            <a:off x="3264480" y="868680"/>
            <a:ext cx="2742120" cy="47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Text 14"/>
          <p:cNvSpPr/>
          <p:nvPr/>
        </p:nvSpPr>
        <p:spPr>
          <a:xfrm>
            <a:off x="3721680" y="868680"/>
            <a:ext cx="2193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0612"/>
                </a:solidFill>
                <a:latin typeface="Calibri"/>
                <a:ea typeface="DejaVu Sans"/>
              </a:rPr>
              <a:t>Intellectual Property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526" name="Image 2" descr="preencoded.png"/>
          <p:cNvPicPr/>
          <p:nvPr/>
        </p:nvPicPr>
        <p:blipFill>
          <a:blip r:embed="rId3"/>
          <a:stretch/>
        </p:blipFill>
        <p:spPr>
          <a:xfrm>
            <a:off x="3319200" y="914400"/>
            <a:ext cx="346320" cy="346320"/>
          </a:xfrm>
          <a:prstGeom prst="rect">
            <a:avLst/>
          </a:prstGeom>
          <a:ln w="0">
            <a:noFill/>
          </a:ln>
        </p:spPr>
      </p:pic>
      <p:pic>
        <p:nvPicPr>
          <p:cNvPr id="527" name="Image 3" descr="preencoded.png"/>
          <p:cNvPicPr/>
          <p:nvPr/>
        </p:nvPicPr>
        <p:blipFill>
          <a:blip r:embed="rId4"/>
          <a:stretch/>
        </p:blipFill>
        <p:spPr>
          <a:xfrm>
            <a:off x="4361760" y="1481400"/>
            <a:ext cx="565920" cy="565920"/>
          </a:xfrm>
          <a:prstGeom prst="rect">
            <a:avLst/>
          </a:prstGeom>
          <a:ln w="0">
            <a:noFill/>
          </a:ln>
        </p:spPr>
      </p:pic>
      <p:sp>
        <p:nvSpPr>
          <p:cNvPr id="528" name="Shape 15"/>
          <p:cNvSpPr/>
          <p:nvPr/>
        </p:nvSpPr>
        <p:spPr>
          <a:xfrm>
            <a:off x="3429000" y="2267640"/>
            <a:ext cx="72000" cy="50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Text 16"/>
          <p:cNvSpPr/>
          <p:nvPr/>
        </p:nvSpPr>
        <p:spPr>
          <a:xfrm>
            <a:off x="3584520" y="2267640"/>
            <a:ext cx="2284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Training on copyrighted works without consent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30" name="Shape 17"/>
          <p:cNvSpPr/>
          <p:nvPr/>
        </p:nvSpPr>
        <p:spPr>
          <a:xfrm>
            <a:off x="3429000" y="3044880"/>
            <a:ext cx="72000" cy="50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Text 18"/>
          <p:cNvSpPr/>
          <p:nvPr/>
        </p:nvSpPr>
        <p:spPr>
          <a:xfrm>
            <a:off x="3584520" y="3044880"/>
            <a:ext cx="2284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Who owns AI-generated content?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32" name="Shape 19"/>
          <p:cNvSpPr/>
          <p:nvPr/>
        </p:nvSpPr>
        <p:spPr>
          <a:xfrm>
            <a:off x="3429000" y="3822120"/>
            <a:ext cx="72000" cy="50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Text 20"/>
          <p:cNvSpPr/>
          <p:nvPr/>
        </p:nvSpPr>
        <p:spPr>
          <a:xfrm>
            <a:off x="3584520" y="3822120"/>
            <a:ext cx="2284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Ongoing lawsuits by artists and publishers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34" name="Shape 21"/>
          <p:cNvSpPr/>
          <p:nvPr/>
        </p:nvSpPr>
        <p:spPr>
          <a:xfrm>
            <a:off x="6208920" y="868680"/>
            <a:ext cx="2742120" cy="397656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5" name="Shape 22"/>
          <p:cNvSpPr/>
          <p:nvPr/>
        </p:nvSpPr>
        <p:spPr>
          <a:xfrm>
            <a:off x="6208920" y="868680"/>
            <a:ext cx="2742120" cy="47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6" name="Text 23"/>
          <p:cNvSpPr/>
          <p:nvPr/>
        </p:nvSpPr>
        <p:spPr>
          <a:xfrm>
            <a:off x="6666120" y="868680"/>
            <a:ext cx="21934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0612"/>
                </a:solidFill>
                <a:latin typeface="Calibri"/>
                <a:ea typeface="DejaVu Sans"/>
              </a:rPr>
              <a:t>AI Safety &amp; Alignment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537" name="Image 4" descr="preencoded.png"/>
          <p:cNvPicPr/>
          <p:nvPr/>
        </p:nvPicPr>
        <p:blipFill>
          <a:blip r:embed="rId5"/>
          <a:stretch/>
        </p:blipFill>
        <p:spPr>
          <a:xfrm>
            <a:off x="6263640" y="914400"/>
            <a:ext cx="346320" cy="346320"/>
          </a:xfrm>
          <a:prstGeom prst="rect">
            <a:avLst/>
          </a:prstGeom>
          <a:ln w="0">
            <a:noFill/>
          </a:ln>
        </p:spPr>
      </p:pic>
      <p:pic>
        <p:nvPicPr>
          <p:cNvPr id="538" name="Image 5" descr="preencoded.png"/>
          <p:cNvPicPr/>
          <p:nvPr/>
        </p:nvPicPr>
        <p:blipFill>
          <a:blip r:embed="rId6"/>
          <a:stretch/>
        </p:blipFill>
        <p:spPr>
          <a:xfrm>
            <a:off x="7306200" y="1481400"/>
            <a:ext cx="565920" cy="565920"/>
          </a:xfrm>
          <a:prstGeom prst="rect">
            <a:avLst/>
          </a:prstGeom>
          <a:ln w="0">
            <a:noFill/>
          </a:ln>
        </p:spPr>
      </p:pic>
      <p:sp>
        <p:nvSpPr>
          <p:cNvPr id="539" name="Shape 24"/>
          <p:cNvSpPr/>
          <p:nvPr/>
        </p:nvSpPr>
        <p:spPr>
          <a:xfrm>
            <a:off x="6373440" y="2267640"/>
            <a:ext cx="72000" cy="50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Text 25"/>
          <p:cNvSpPr/>
          <p:nvPr/>
        </p:nvSpPr>
        <p:spPr>
          <a:xfrm>
            <a:off x="6528960" y="2267640"/>
            <a:ext cx="2284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Ensuring AI follows human values and intentions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1" name="Shape 26"/>
          <p:cNvSpPr/>
          <p:nvPr/>
        </p:nvSpPr>
        <p:spPr>
          <a:xfrm>
            <a:off x="6373440" y="3044880"/>
            <a:ext cx="72000" cy="50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Text 27"/>
          <p:cNvSpPr/>
          <p:nvPr/>
        </p:nvSpPr>
        <p:spPr>
          <a:xfrm>
            <a:off x="6528960" y="3044880"/>
            <a:ext cx="2284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Risk of misuse for harmful content generation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3" name="Shape 28"/>
          <p:cNvSpPr/>
          <p:nvPr/>
        </p:nvSpPr>
        <p:spPr>
          <a:xfrm>
            <a:off x="6373440" y="3822120"/>
            <a:ext cx="72000" cy="50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Text 29"/>
          <p:cNvSpPr/>
          <p:nvPr/>
        </p:nvSpPr>
        <p:spPr>
          <a:xfrm>
            <a:off x="6528960" y="3822120"/>
            <a:ext cx="22849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Constitutional AI and RLHF as safety mechanisms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0"/>
          <p:cNvSpPr/>
          <p:nvPr/>
        </p:nvSpPr>
        <p:spPr>
          <a:xfrm>
            <a:off x="5029200" y="457200"/>
            <a:ext cx="4570920" cy="4570920"/>
          </a:xfrm>
          <a:prstGeom prst="ellipse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Shape 1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Text 2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Future of Generative AI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48" name="Shape 3"/>
          <p:cNvSpPr/>
          <p:nvPr/>
        </p:nvSpPr>
        <p:spPr>
          <a:xfrm>
            <a:off x="365760" y="713160"/>
            <a:ext cx="155340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49" name="Image 0" descr="preencoded.png"/>
          <p:cNvPicPr/>
          <p:nvPr/>
        </p:nvPicPr>
        <p:blipFill>
          <a:blip r:embed="rId1"/>
          <a:stretch/>
        </p:blipFill>
        <p:spPr>
          <a:xfrm>
            <a:off x="8321040" y="9144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550" name="Shape 4"/>
          <p:cNvSpPr/>
          <p:nvPr/>
        </p:nvSpPr>
        <p:spPr>
          <a:xfrm>
            <a:off x="320040" y="868680"/>
            <a:ext cx="821880" cy="803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Text 5"/>
          <p:cNvSpPr/>
          <p:nvPr/>
        </p:nvSpPr>
        <p:spPr>
          <a:xfrm>
            <a:off x="320040" y="868680"/>
            <a:ext cx="82188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0612"/>
                </a:solidFill>
                <a:latin typeface="Calibri"/>
                <a:ea typeface="DejaVu Sans"/>
              </a:rPr>
              <a:t>Now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2" name="Shape 6"/>
          <p:cNvSpPr/>
          <p:nvPr/>
        </p:nvSpPr>
        <p:spPr>
          <a:xfrm>
            <a:off x="1143000" y="1234440"/>
            <a:ext cx="273240" cy="53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Shape 7"/>
          <p:cNvSpPr/>
          <p:nvPr/>
        </p:nvSpPr>
        <p:spPr>
          <a:xfrm>
            <a:off x="1463040" y="868680"/>
            <a:ext cx="5028120" cy="803520"/>
          </a:xfrm>
          <a:prstGeom prst="rect">
            <a:avLst/>
          </a:prstGeom>
          <a:solidFill>
            <a:srgbClr val="12122e"/>
          </a:solidFill>
          <a:ln w="19050">
            <a:solidFill>
              <a:srgbClr val="10b98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54" name="Image 1" descr="preencoded.png"/>
          <p:cNvPicPr/>
          <p:nvPr/>
        </p:nvPicPr>
        <p:blipFill>
          <a:blip r:embed="rId2"/>
          <a:stretch/>
        </p:blipFill>
        <p:spPr>
          <a:xfrm>
            <a:off x="1554480" y="104256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55" name="Text 8"/>
          <p:cNvSpPr/>
          <p:nvPr/>
        </p:nvSpPr>
        <p:spPr>
          <a:xfrm>
            <a:off x="2148840" y="923400"/>
            <a:ext cx="4205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Calibri"/>
                <a:ea typeface="DejaVu Sans"/>
              </a:rPr>
              <a:t>Multimodal Models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56" name="Text 9"/>
          <p:cNvSpPr/>
          <p:nvPr/>
        </p:nvSpPr>
        <p:spPr>
          <a:xfrm>
            <a:off x="2148840" y="1298520"/>
            <a:ext cx="4205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GPT-4o, Gemini Ultra — seamlessly handle text, vision, and audio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7" name="Shape 10"/>
          <p:cNvSpPr/>
          <p:nvPr/>
        </p:nvSpPr>
        <p:spPr>
          <a:xfrm>
            <a:off x="320040" y="1911240"/>
            <a:ext cx="821880" cy="803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Text 11"/>
          <p:cNvSpPr/>
          <p:nvPr/>
        </p:nvSpPr>
        <p:spPr>
          <a:xfrm>
            <a:off x="320040" y="1911240"/>
            <a:ext cx="82188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0612"/>
                </a:solidFill>
                <a:latin typeface="Calibri"/>
                <a:ea typeface="DejaVu Sans"/>
              </a:rPr>
              <a:t>2026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9" name="Shape 12"/>
          <p:cNvSpPr/>
          <p:nvPr/>
        </p:nvSpPr>
        <p:spPr>
          <a:xfrm>
            <a:off x="1143000" y="2277000"/>
            <a:ext cx="273240" cy="53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Shape 13"/>
          <p:cNvSpPr/>
          <p:nvPr/>
        </p:nvSpPr>
        <p:spPr>
          <a:xfrm>
            <a:off x="1463040" y="1911240"/>
            <a:ext cx="5028120" cy="803520"/>
          </a:xfrm>
          <a:prstGeom prst="rect">
            <a:avLst/>
          </a:prstGeom>
          <a:solidFill>
            <a:srgbClr val="12122e"/>
          </a:solidFill>
          <a:ln w="19050">
            <a:solidFill>
              <a:srgbClr val="22d3e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61" name="Image 2" descr="preencoded.png"/>
          <p:cNvPicPr/>
          <p:nvPr/>
        </p:nvPicPr>
        <p:blipFill>
          <a:blip r:embed="rId3"/>
          <a:stretch/>
        </p:blipFill>
        <p:spPr>
          <a:xfrm>
            <a:off x="1554480" y="208476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62" name="Text 14"/>
          <p:cNvSpPr/>
          <p:nvPr/>
        </p:nvSpPr>
        <p:spPr>
          <a:xfrm>
            <a:off x="2148840" y="1965960"/>
            <a:ext cx="4205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d3ee"/>
                </a:solidFill>
                <a:latin typeface="Calibri"/>
                <a:ea typeface="DejaVu Sans"/>
              </a:rPr>
              <a:t>AI Agents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3" name="Text 15"/>
          <p:cNvSpPr/>
          <p:nvPr/>
        </p:nvSpPr>
        <p:spPr>
          <a:xfrm>
            <a:off x="2148840" y="2340720"/>
            <a:ext cx="4205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Autonomous agents complete multi-step tasks across apps without human input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4" name="Shape 16"/>
          <p:cNvSpPr/>
          <p:nvPr/>
        </p:nvSpPr>
        <p:spPr>
          <a:xfrm>
            <a:off x="320040" y="2953440"/>
            <a:ext cx="821880" cy="803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5" name="Text 17"/>
          <p:cNvSpPr/>
          <p:nvPr/>
        </p:nvSpPr>
        <p:spPr>
          <a:xfrm>
            <a:off x="320040" y="2953440"/>
            <a:ext cx="82188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0612"/>
                </a:solidFill>
                <a:latin typeface="Calibri"/>
                <a:ea typeface="DejaVu Sans"/>
              </a:rPr>
              <a:t>2027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6" name="Shape 18"/>
          <p:cNvSpPr/>
          <p:nvPr/>
        </p:nvSpPr>
        <p:spPr>
          <a:xfrm>
            <a:off x="1143000" y="3319200"/>
            <a:ext cx="273240" cy="53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Shape 19"/>
          <p:cNvSpPr/>
          <p:nvPr/>
        </p:nvSpPr>
        <p:spPr>
          <a:xfrm>
            <a:off x="1463040" y="2953440"/>
            <a:ext cx="5028120" cy="803520"/>
          </a:xfrm>
          <a:prstGeom prst="rect">
            <a:avLst/>
          </a:prstGeom>
          <a:solidFill>
            <a:srgbClr val="12122e"/>
          </a:solidFill>
          <a:ln w="19050">
            <a:solidFill>
              <a:srgbClr val="a855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68" name="Image 3" descr="preencoded.png"/>
          <p:cNvPicPr/>
          <p:nvPr/>
        </p:nvPicPr>
        <p:blipFill>
          <a:blip r:embed="rId4"/>
          <a:stretch/>
        </p:blipFill>
        <p:spPr>
          <a:xfrm>
            <a:off x="1554480" y="31273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69" name="Text 20"/>
          <p:cNvSpPr/>
          <p:nvPr/>
        </p:nvSpPr>
        <p:spPr>
          <a:xfrm>
            <a:off x="2148840" y="3008520"/>
            <a:ext cx="4205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a855f7"/>
                </a:solidFill>
                <a:latin typeface="Calibri"/>
                <a:ea typeface="DejaVu Sans"/>
              </a:rPr>
              <a:t>Personalised AI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70" name="Text 21"/>
          <p:cNvSpPr/>
          <p:nvPr/>
        </p:nvSpPr>
        <p:spPr>
          <a:xfrm>
            <a:off x="2148840" y="3383280"/>
            <a:ext cx="4205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On-device models customised to individual users with full privacy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71" name="Shape 22"/>
          <p:cNvSpPr/>
          <p:nvPr/>
        </p:nvSpPr>
        <p:spPr>
          <a:xfrm>
            <a:off x="320040" y="3996000"/>
            <a:ext cx="821880" cy="803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Text 23"/>
          <p:cNvSpPr/>
          <p:nvPr/>
        </p:nvSpPr>
        <p:spPr>
          <a:xfrm>
            <a:off x="320040" y="3996000"/>
            <a:ext cx="82188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0612"/>
                </a:solidFill>
                <a:latin typeface="Calibri"/>
                <a:ea typeface="DejaVu Sans"/>
              </a:rPr>
              <a:t>2028+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73" name="Shape 24"/>
          <p:cNvSpPr/>
          <p:nvPr/>
        </p:nvSpPr>
        <p:spPr>
          <a:xfrm>
            <a:off x="1143000" y="4361760"/>
            <a:ext cx="273240" cy="53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4" name="Shape 25"/>
          <p:cNvSpPr/>
          <p:nvPr/>
        </p:nvSpPr>
        <p:spPr>
          <a:xfrm>
            <a:off x="1463040" y="3996000"/>
            <a:ext cx="5028120" cy="803520"/>
          </a:xfrm>
          <a:prstGeom prst="rect">
            <a:avLst/>
          </a:prstGeom>
          <a:solidFill>
            <a:srgbClr val="12122e"/>
          </a:solidFill>
          <a:ln w="1905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75" name="Image 4" descr="preencoded.png"/>
          <p:cNvPicPr/>
          <p:nvPr/>
        </p:nvPicPr>
        <p:blipFill>
          <a:blip r:embed="rId5"/>
          <a:stretch/>
        </p:blipFill>
        <p:spPr>
          <a:xfrm>
            <a:off x="1554480" y="4169520"/>
            <a:ext cx="456120" cy="456120"/>
          </a:xfrm>
          <a:prstGeom prst="rect">
            <a:avLst/>
          </a:prstGeom>
          <a:ln w="0">
            <a:noFill/>
          </a:ln>
        </p:spPr>
      </p:pic>
      <p:sp>
        <p:nvSpPr>
          <p:cNvPr id="576" name="Text 26"/>
          <p:cNvSpPr/>
          <p:nvPr/>
        </p:nvSpPr>
        <p:spPr>
          <a:xfrm>
            <a:off x="2148840" y="4050720"/>
            <a:ext cx="4205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  <a:ea typeface="DejaVu Sans"/>
              </a:rPr>
              <a:t>AGI Horizon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77" name="Text 27"/>
          <p:cNvSpPr/>
          <p:nvPr/>
        </p:nvSpPr>
        <p:spPr>
          <a:xfrm>
            <a:off x="2148840" y="4425840"/>
            <a:ext cx="4205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  <a:ea typeface="Calibri"/>
              </a:rPr>
              <a:t>Systems approaching general human-level intelligence across domains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78" name="Shape 28"/>
          <p:cNvSpPr/>
          <p:nvPr/>
        </p:nvSpPr>
        <p:spPr>
          <a:xfrm>
            <a:off x="6903720" y="868680"/>
            <a:ext cx="1919160" cy="3930840"/>
          </a:xfrm>
          <a:prstGeom prst="rect">
            <a:avLst/>
          </a:prstGeom>
          <a:solidFill>
            <a:srgbClr val="0f0f28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Text 29"/>
          <p:cNvSpPr/>
          <p:nvPr/>
        </p:nvSpPr>
        <p:spPr>
          <a:xfrm>
            <a:off x="6949440" y="960120"/>
            <a:ext cx="1827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DejaVu Sans"/>
              </a:rPr>
              <a:t>Market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  <a:ea typeface="DejaVu Sans"/>
              </a:rPr>
              <a:t>Growth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80" name="Text 30"/>
          <p:cNvSpPr/>
          <p:nvPr/>
        </p:nvSpPr>
        <p:spPr>
          <a:xfrm>
            <a:off x="6949440" y="1691640"/>
            <a:ext cx="18277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Arial Black"/>
                <a:ea typeface="Arial Black"/>
              </a:rPr>
              <a:t>$40B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581" name="Text 31"/>
          <p:cNvSpPr/>
          <p:nvPr/>
        </p:nvSpPr>
        <p:spPr>
          <a:xfrm>
            <a:off x="6949440" y="2286000"/>
            <a:ext cx="18277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(2023)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82" name="Shape 32"/>
          <p:cNvSpPr/>
          <p:nvPr/>
        </p:nvSpPr>
        <p:spPr>
          <a:xfrm>
            <a:off x="7543800" y="2651760"/>
            <a:ext cx="53640" cy="593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3" name="Text 33"/>
          <p:cNvSpPr/>
          <p:nvPr/>
        </p:nvSpPr>
        <p:spPr>
          <a:xfrm>
            <a:off x="7479720" y="3200400"/>
            <a:ext cx="1818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0b981"/>
                </a:solidFill>
                <a:latin typeface="Calibri"/>
                <a:ea typeface="DejaVu Sans"/>
              </a:rPr>
              <a:t>▼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4" name="Text 34"/>
          <p:cNvSpPr/>
          <p:nvPr/>
        </p:nvSpPr>
        <p:spPr>
          <a:xfrm>
            <a:off x="6949440" y="3493080"/>
            <a:ext cx="18277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10b981"/>
                </a:solidFill>
                <a:latin typeface="Arial Black"/>
                <a:ea typeface="Arial Black"/>
              </a:rPr>
              <a:t>$1.3T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85" name="Text 35"/>
          <p:cNvSpPr/>
          <p:nvPr/>
        </p:nvSpPr>
        <p:spPr>
          <a:xfrm>
            <a:off x="6949440" y="4114800"/>
            <a:ext cx="1827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(2030 est.)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0"/>
          <p:cNvSpPr/>
          <p:nvPr/>
        </p:nvSpPr>
        <p:spPr>
          <a:xfrm>
            <a:off x="-914400" y="-914400"/>
            <a:ext cx="5485320" cy="548532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Shape 1"/>
          <p:cNvSpPr/>
          <p:nvPr/>
        </p:nvSpPr>
        <p:spPr>
          <a:xfrm>
            <a:off x="4572000" y="914400"/>
            <a:ext cx="5485320" cy="548532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Shape 2"/>
          <p:cNvSpPr/>
          <p:nvPr/>
        </p:nvSpPr>
        <p:spPr>
          <a:xfrm>
            <a:off x="0" y="0"/>
            <a:ext cx="9142920" cy="10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9" name="Text 3"/>
          <p:cNvSpPr/>
          <p:nvPr/>
        </p:nvSpPr>
        <p:spPr>
          <a:xfrm>
            <a:off x="365760" y="164520"/>
            <a:ext cx="8411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 Black"/>
                <a:ea typeface="Arial Black"/>
              </a:rPr>
              <a:t>Conclusion &amp; References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0" name="Shape 4"/>
          <p:cNvSpPr/>
          <p:nvPr/>
        </p:nvSpPr>
        <p:spPr>
          <a:xfrm>
            <a:off x="365760" y="713160"/>
            <a:ext cx="1919160" cy="35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Shape 5"/>
          <p:cNvSpPr/>
          <p:nvPr/>
        </p:nvSpPr>
        <p:spPr>
          <a:xfrm>
            <a:off x="320040" y="841320"/>
            <a:ext cx="8502840" cy="1096200"/>
          </a:xfrm>
          <a:prstGeom prst="rect">
            <a:avLst/>
          </a:prstGeom>
          <a:solidFill>
            <a:srgbClr val="0f0f28"/>
          </a:solidFill>
          <a:ln w="1905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Text 6"/>
          <p:cNvSpPr/>
          <p:nvPr/>
        </p:nvSpPr>
        <p:spPr>
          <a:xfrm>
            <a:off x="502920" y="914400"/>
            <a:ext cx="81370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Generative AI is the most transformative technology of the 21st century — redefining creativity, productivity, and what machines are capable of. Responsible development is the key to maximising its benefits.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93" name="Shape 7"/>
          <p:cNvSpPr/>
          <p:nvPr/>
        </p:nvSpPr>
        <p:spPr>
          <a:xfrm>
            <a:off x="320040" y="2103120"/>
            <a:ext cx="8502840" cy="529200"/>
          </a:xfrm>
          <a:prstGeom prst="rect">
            <a:avLst/>
          </a:prstGeom>
          <a:solidFill>
            <a:srgbClr val="12122e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94" name="Image 0" descr="preencoded.png"/>
          <p:cNvPicPr/>
          <p:nvPr/>
        </p:nvPicPr>
        <p:blipFill>
          <a:blip r:embed="rId1"/>
          <a:stretch/>
        </p:blipFill>
        <p:spPr>
          <a:xfrm>
            <a:off x="411480" y="219456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595" name="Text 8"/>
          <p:cNvSpPr/>
          <p:nvPr/>
        </p:nvSpPr>
        <p:spPr>
          <a:xfrm>
            <a:off x="841320" y="2139840"/>
            <a:ext cx="7817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Generative AI creates original text, images, audio, video, and code using deep learning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96" name="Shape 9"/>
          <p:cNvSpPr/>
          <p:nvPr/>
        </p:nvSpPr>
        <p:spPr>
          <a:xfrm>
            <a:off x="320040" y="2706480"/>
            <a:ext cx="8502840" cy="529200"/>
          </a:xfrm>
          <a:prstGeom prst="rect">
            <a:avLst/>
          </a:prstGeom>
          <a:solidFill>
            <a:srgbClr val="12122e"/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97" name="Image 1" descr="preencoded.png"/>
          <p:cNvPicPr/>
          <p:nvPr/>
        </p:nvPicPr>
        <p:blipFill>
          <a:blip r:embed="rId2"/>
          <a:stretch/>
        </p:blipFill>
        <p:spPr>
          <a:xfrm>
            <a:off x="411480" y="279792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598" name="Text 10"/>
          <p:cNvSpPr/>
          <p:nvPr/>
        </p:nvSpPr>
        <p:spPr>
          <a:xfrm>
            <a:off x="841320" y="2743200"/>
            <a:ext cx="7817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Powered by Transformers, massive datasets, and RLHF fine-tuning for human alignment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99" name="Shape 11"/>
          <p:cNvSpPr/>
          <p:nvPr/>
        </p:nvSpPr>
        <p:spPr>
          <a:xfrm>
            <a:off x="320040" y="3310200"/>
            <a:ext cx="8502840" cy="529200"/>
          </a:xfrm>
          <a:prstGeom prst="rect">
            <a:avLst/>
          </a:prstGeom>
          <a:solidFill>
            <a:srgbClr val="12122e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00" name="Image 2" descr="preencoded.png"/>
          <p:cNvPicPr/>
          <p:nvPr/>
        </p:nvPicPr>
        <p:blipFill>
          <a:blip r:embed="rId3"/>
          <a:stretch/>
        </p:blipFill>
        <p:spPr>
          <a:xfrm>
            <a:off x="411480" y="340164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601" name="Text 12"/>
          <p:cNvSpPr/>
          <p:nvPr/>
        </p:nvSpPr>
        <p:spPr>
          <a:xfrm>
            <a:off x="841320" y="3346560"/>
            <a:ext cx="7817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Applications span healthcare, education, software, science, and the creative industries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2" name="Shape 13"/>
          <p:cNvSpPr/>
          <p:nvPr/>
        </p:nvSpPr>
        <p:spPr>
          <a:xfrm>
            <a:off x="320040" y="3913560"/>
            <a:ext cx="8502840" cy="529200"/>
          </a:xfrm>
          <a:prstGeom prst="rect">
            <a:avLst/>
          </a:prstGeom>
          <a:solidFill>
            <a:srgbClr val="12122e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03" name="Image 3" descr="preencoded.png"/>
          <p:cNvPicPr/>
          <p:nvPr/>
        </p:nvPicPr>
        <p:blipFill>
          <a:blip r:embed="rId4"/>
          <a:stretch/>
        </p:blipFill>
        <p:spPr>
          <a:xfrm>
            <a:off x="411480" y="400500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604" name="Text 14"/>
          <p:cNvSpPr/>
          <p:nvPr/>
        </p:nvSpPr>
        <p:spPr>
          <a:xfrm>
            <a:off x="841320" y="3950280"/>
            <a:ext cx="7817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Ethical governance, safety alignment, and regulation are critical for responsible AI use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5" name="Shape 15"/>
          <p:cNvSpPr/>
          <p:nvPr/>
        </p:nvSpPr>
        <p:spPr>
          <a:xfrm>
            <a:off x="320040" y="4572000"/>
            <a:ext cx="8502840" cy="501840"/>
          </a:xfrm>
          <a:prstGeom prst="rect">
            <a:avLst/>
          </a:prstGeom>
          <a:solidFill>
            <a:srgbClr val="12122e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6" name="Text 16"/>
          <p:cNvSpPr/>
          <p:nvPr/>
        </p:nvSpPr>
        <p:spPr>
          <a:xfrm>
            <a:off x="457200" y="4645080"/>
            <a:ext cx="8228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References: OpenAI (openai.com)  ·  Google DeepMind (deepmind.com)  ·  Anthropic (anthropic.com)  ·  Hugging Face (huggingface.co)  ·  IEEE Xplore  ·  arXiv.org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2026-03-15T15:29:32Z</dcterms:created>
  <dc:creator>PptxGenJS</dc:creator>
  <dc:description/>
  <dc:language>en-IN</dc:language>
  <cp:lastModifiedBy/>
  <dcterms:modified xsi:type="dcterms:W3CDTF">2026-04-02T09:29:52Z</dcterms:modified>
  <cp:revision>7</cp:revision>
  <dc:subject>PptxGenJS Presentation</dc:subject>
  <dc:title>Generative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